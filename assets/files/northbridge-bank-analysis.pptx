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Inter" panose="020B0604020202020204" charset="0"/>
      <p:regular r:id="rId11"/>
    </p:embeddedFont>
    <p:embeddedFont>
      <p:font typeface="Inter Bold" panose="020B0604020202020204" charset="0"/>
      <p:regular r:id="rId12"/>
    </p:embeddedFont>
    <p:embeddedFont>
      <p:font typeface="Montserrat" panose="00000500000000000000" pitchFamily="2" charset="0"/>
      <p:regular r:id="rId13"/>
    </p:embeddedFont>
    <p:embeddedFont>
      <p:font typeface="Montserrat Bold" panose="00000800000000000000" charset="0"/>
      <p:regular r:id="rId14"/>
    </p:embeddedFont>
    <p:embeddedFont>
      <p:font typeface="Open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Q3 revenue discrepancy</a:t>
            </a:r>
          </a:p>
          <a:p>
            <a:endParaRPr lang="en-US"/>
          </a:p>
          <a:p>
            <a:r>
              <a:rPr lang="en-US"/>
              <a:t>Churn satisfaction correlation, and the Manchester branch</a:t>
            </a:r>
          </a:p>
          <a:p>
            <a:endParaRPr lang="en-US"/>
          </a:p>
          <a:p>
            <a:r>
              <a:rPr lang="en-US"/>
              <a:t>Data Quality - Missing Satisfaction Ratings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Churn:</a:t>
            </a:r>
          </a:p>
          <a:p>
            <a:r>
              <a:rPr lang="en-US" dirty="0"/>
              <a:t>Average - 5.10%</a:t>
            </a:r>
          </a:p>
          <a:p>
            <a:r>
              <a:rPr lang="en-US" dirty="0"/>
              <a:t>Manchester - 9.68%</a:t>
            </a:r>
          </a:p>
          <a:p>
            <a:r>
              <a:rPr lang="en-US" dirty="0"/>
              <a:t>Edinburgh - 2.99%</a:t>
            </a:r>
          </a:p>
          <a:p>
            <a:endParaRPr lang="en-US" dirty="0"/>
          </a:p>
          <a:p>
            <a:r>
              <a:rPr lang="en-US" dirty="0"/>
              <a:t>Average Satisfaction:</a:t>
            </a:r>
          </a:p>
          <a:p>
            <a:r>
              <a:rPr lang="en-US" dirty="0"/>
              <a:t>Manchester - 6.59</a:t>
            </a:r>
          </a:p>
          <a:p>
            <a:r>
              <a:rPr lang="en-US" dirty="0"/>
              <a:t>Bristol - 7.67</a:t>
            </a:r>
          </a:p>
          <a:p>
            <a:r>
              <a:rPr lang="en-US" dirty="0"/>
              <a:t>Rest - 7.52/7.53</a:t>
            </a:r>
          </a:p>
          <a:p>
            <a:endParaRPr lang="en-US" dirty="0"/>
          </a:p>
          <a:p>
            <a:r>
              <a:rPr lang="en-US" dirty="0"/>
              <a:t>Some of the satisfaction scores are missing in the dataset.</a:t>
            </a:r>
          </a:p>
          <a:p>
            <a:r>
              <a:rPr lang="en-US" dirty="0"/>
              <a:t>To handle this issue, we filtered out the missing satisfaction scores before investigating the link between churn and satisfaction.</a:t>
            </a:r>
          </a:p>
          <a:p>
            <a:r>
              <a:rPr lang="en-US" dirty="0"/>
              <a:t>We had a look at the number of missing satisfaction scores per branch. There does not seem to be a correlation between branch and missing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Churn:</a:t>
            </a:r>
          </a:p>
          <a:p>
            <a:r>
              <a:rPr lang="en-US" dirty="0"/>
              <a:t>Average - 5.10%</a:t>
            </a:r>
          </a:p>
          <a:p>
            <a:r>
              <a:rPr lang="en-US" dirty="0"/>
              <a:t>Manchester - 9.68%</a:t>
            </a:r>
          </a:p>
          <a:p>
            <a:r>
              <a:rPr lang="en-US" dirty="0"/>
              <a:t>Edinburgh - 2.99%</a:t>
            </a:r>
          </a:p>
          <a:p>
            <a:endParaRPr lang="en-US" dirty="0"/>
          </a:p>
          <a:p>
            <a:r>
              <a:rPr lang="en-US" dirty="0"/>
              <a:t>Average Satisfaction:</a:t>
            </a:r>
          </a:p>
          <a:p>
            <a:r>
              <a:rPr lang="en-US" dirty="0"/>
              <a:t>Manchester - 6.59</a:t>
            </a:r>
          </a:p>
          <a:p>
            <a:r>
              <a:rPr lang="en-US" dirty="0"/>
              <a:t>Bristol - 7.67</a:t>
            </a:r>
          </a:p>
          <a:p>
            <a:r>
              <a:rPr lang="en-US" dirty="0"/>
              <a:t>Rest - 7.52/7.53</a:t>
            </a:r>
          </a:p>
          <a:p>
            <a:endParaRPr lang="en-US" dirty="0"/>
          </a:p>
          <a:p>
            <a:endParaRPr lang="en-US" dirty="0"/>
          </a:p>
          <a:p>
            <a:r>
              <a:rPr lang="en-US" dirty="0"/>
              <a:t>The average can be seen in the line on the left graph.</a:t>
            </a:r>
          </a:p>
          <a:p>
            <a:endParaRPr lang="en-US" dirty="0"/>
          </a:p>
          <a:p>
            <a:r>
              <a:rPr lang="en-US" dirty="0"/>
              <a:t>Significant drop in satisfaction score when it comes to the Manchester branch, and a steep increase in average churn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is a clear issue with the retention of customers at the Manchester branch.  In order to improve, Manchester branch, which has highest churn rate should research the service at the Edinburgh and Bristol branches, which have the least churn rate and highest satisfaction scores.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oleObject" Target="../embeddings/oleObject1.bin"/><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4.sv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GB"/>
          </a:p>
        </p:txBody>
      </p:sp>
      <p:sp>
        <p:nvSpPr>
          <p:cNvPr id="3" name="Freeform 3"/>
          <p:cNvSpPr/>
          <p:nvPr/>
        </p:nvSpPr>
        <p:spPr>
          <a:xfrm>
            <a:off x="3828109" y="1435299"/>
            <a:ext cx="651990" cy="660243"/>
          </a:xfrm>
          <a:custGeom>
            <a:avLst/>
            <a:gdLst/>
            <a:ahLst/>
            <a:cxnLst/>
            <a:rect l="l" t="t" r="r" b="b"/>
            <a:pathLst>
              <a:path w="651990" h="660243">
                <a:moveTo>
                  <a:pt x="0" y="0"/>
                </a:moveTo>
                <a:lnTo>
                  <a:pt x="651990" y="0"/>
                </a:lnTo>
                <a:lnTo>
                  <a:pt x="651990" y="660243"/>
                </a:lnTo>
                <a:lnTo>
                  <a:pt x="0" y="6602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4" name="Group 4"/>
          <p:cNvGrpSpPr/>
          <p:nvPr/>
        </p:nvGrpSpPr>
        <p:grpSpPr>
          <a:xfrm>
            <a:off x="-2289030" y="-1836088"/>
            <a:ext cx="4019720" cy="5353345"/>
            <a:chOff x="0" y="0"/>
            <a:chExt cx="419592" cy="558800"/>
          </a:xfrm>
        </p:grpSpPr>
        <p:sp>
          <p:nvSpPr>
            <p:cNvPr id="5" name="Freeform 5"/>
            <p:cNvSpPr/>
            <p:nvPr/>
          </p:nvSpPr>
          <p:spPr>
            <a:xfrm>
              <a:off x="0" y="0"/>
              <a:ext cx="419592" cy="558800"/>
            </a:xfrm>
            <a:custGeom>
              <a:avLst/>
              <a:gdLst/>
              <a:ahLst/>
              <a:cxnLst/>
              <a:rect l="l" t="t" r="r" b="b"/>
              <a:pathLst>
                <a:path w="419592" h="558800">
                  <a:moveTo>
                    <a:pt x="419592" y="0"/>
                  </a:moveTo>
                  <a:lnTo>
                    <a:pt x="419592" y="304800"/>
                  </a:lnTo>
                  <a:lnTo>
                    <a:pt x="232115" y="558800"/>
                  </a:lnTo>
                  <a:lnTo>
                    <a:pt x="0" y="558800"/>
                  </a:lnTo>
                  <a:lnTo>
                    <a:pt x="0" y="248920"/>
                  </a:lnTo>
                  <a:lnTo>
                    <a:pt x="184799" y="0"/>
                  </a:lnTo>
                  <a:lnTo>
                    <a:pt x="419592" y="0"/>
                  </a:lnTo>
                  <a:close/>
                </a:path>
              </a:pathLst>
            </a:custGeom>
            <a:solidFill>
              <a:srgbClr val="C13C31"/>
            </a:solidFill>
          </p:spPr>
          <p:txBody>
            <a:bodyPr/>
            <a:lstStyle/>
            <a:p>
              <a:endParaRPr lang="en-GB"/>
            </a:p>
          </p:txBody>
        </p:sp>
        <p:sp>
          <p:nvSpPr>
            <p:cNvPr id="6" name="TextBox 6"/>
            <p:cNvSpPr txBox="1"/>
            <p:nvPr/>
          </p:nvSpPr>
          <p:spPr>
            <a:xfrm>
              <a:off x="71420" y="152400"/>
              <a:ext cx="276752" cy="274320"/>
            </a:xfrm>
            <a:prstGeom prst="rect">
              <a:avLst/>
            </a:prstGeom>
          </p:spPr>
          <p:txBody>
            <a:bodyPr lIns="50800" tIns="50800" rIns="50800" bIns="50800" rtlCol="0" anchor="ctr"/>
            <a:lstStyle/>
            <a:p>
              <a:pPr algn="ctr">
                <a:lnSpc>
                  <a:spcPts val="2750"/>
                </a:lnSpc>
              </a:pPr>
              <a:endParaRPr/>
            </a:p>
          </p:txBody>
        </p:sp>
      </p:grpSp>
      <p:grpSp>
        <p:nvGrpSpPr>
          <p:cNvPr id="7" name="Group 7"/>
          <p:cNvGrpSpPr/>
          <p:nvPr/>
        </p:nvGrpSpPr>
        <p:grpSpPr>
          <a:xfrm>
            <a:off x="16394809" y="6873307"/>
            <a:ext cx="4406499" cy="5868447"/>
            <a:chOff x="0" y="0"/>
            <a:chExt cx="419592" cy="558800"/>
          </a:xfrm>
        </p:grpSpPr>
        <p:sp>
          <p:nvSpPr>
            <p:cNvPr id="8" name="Freeform 8"/>
            <p:cNvSpPr/>
            <p:nvPr/>
          </p:nvSpPr>
          <p:spPr>
            <a:xfrm>
              <a:off x="0" y="0"/>
              <a:ext cx="419592" cy="558800"/>
            </a:xfrm>
            <a:custGeom>
              <a:avLst/>
              <a:gdLst/>
              <a:ahLst/>
              <a:cxnLst/>
              <a:rect l="l" t="t" r="r" b="b"/>
              <a:pathLst>
                <a:path w="419592" h="558800">
                  <a:moveTo>
                    <a:pt x="419592" y="0"/>
                  </a:moveTo>
                  <a:lnTo>
                    <a:pt x="419592" y="304800"/>
                  </a:lnTo>
                  <a:lnTo>
                    <a:pt x="232115" y="558800"/>
                  </a:lnTo>
                  <a:lnTo>
                    <a:pt x="0" y="558800"/>
                  </a:lnTo>
                  <a:lnTo>
                    <a:pt x="0" y="248920"/>
                  </a:lnTo>
                  <a:lnTo>
                    <a:pt x="184799" y="0"/>
                  </a:lnTo>
                  <a:lnTo>
                    <a:pt x="419592" y="0"/>
                  </a:lnTo>
                  <a:close/>
                </a:path>
              </a:pathLst>
            </a:custGeom>
            <a:solidFill>
              <a:srgbClr val="DCDCDD"/>
            </a:solidFill>
          </p:spPr>
          <p:txBody>
            <a:bodyPr/>
            <a:lstStyle/>
            <a:p>
              <a:endParaRPr lang="en-GB"/>
            </a:p>
          </p:txBody>
        </p:sp>
        <p:sp>
          <p:nvSpPr>
            <p:cNvPr id="9" name="TextBox 9"/>
            <p:cNvSpPr txBox="1"/>
            <p:nvPr/>
          </p:nvSpPr>
          <p:spPr>
            <a:xfrm>
              <a:off x="71420" y="152400"/>
              <a:ext cx="276752" cy="274320"/>
            </a:xfrm>
            <a:prstGeom prst="rect">
              <a:avLst/>
            </a:prstGeom>
          </p:spPr>
          <p:txBody>
            <a:bodyPr lIns="50800" tIns="50800" rIns="50800" bIns="50800" rtlCol="0" anchor="ctr"/>
            <a:lstStyle/>
            <a:p>
              <a:pPr algn="ctr">
                <a:lnSpc>
                  <a:spcPts val="2750"/>
                </a:lnSpc>
              </a:pPr>
              <a:endParaRPr/>
            </a:p>
          </p:txBody>
        </p:sp>
      </p:grpSp>
      <p:grpSp>
        <p:nvGrpSpPr>
          <p:cNvPr id="10" name="Group 10"/>
          <p:cNvGrpSpPr/>
          <p:nvPr/>
        </p:nvGrpSpPr>
        <p:grpSpPr>
          <a:xfrm>
            <a:off x="3947025" y="5447673"/>
            <a:ext cx="1320968" cy="1585504"/>
            <a:chOff x="0" y="0"/>
            <a:chExt cx="465566" cy="558800"/>
          </a:xfrm>
        </p:grpSpPr>
        <p:sp>
          <p:nvSpPr>
            <p:cNvPr id="11" name="Freeform 11"/>
            <p:cNvSpPr/>
            <p:nvPr/>
          </p:nvSpPr>
          <p:spPr>
            <a:xfrm>
              <a:off x="0" y="0"/>
              <a:ext cx="465566" cy="558800"/>
            </a:xfrm>
            <a:custGeom>
              <a:avLst/>
              <a:gdLst/>
              <a:ahLst/>
              <a:cxnLst/>
              <a:rect l="l" t="t" r="r" b="b"/>
              <a:pathLst>
                <a:path w="465566" h="558800">
                  <a:moveTo>
                    <a:pt x="465566" y="0"/>
                  </a:moveTo>
                  <a:lnTo>
                    <a:pt x="465566" y="304800"/>
                  </a:lnTo>
                  <a:lnTo>
                    <a:pt x="257547" y="558800"/>
                  </a:lnTo>
                  <a:lnTo>
                    <a:pt x="0" y="558800"/>
                  </a:lnTo>
                  <a:lnTo>
                    <a:pt x="0" y="248920"/>
                  </a:lnTo>
                  <a:lnTo>
                    <a:pt x="205047" y="0"/>
                  </a:lnTo>
                  <a:lnTo>
                    <a:pt x="465566" y="0"/>
                  </a:lnTo>
                  <a:close/>
                </a:path>
              </a:pathLst>
            </a:custGeom>
            <a:solidFill>
              <a:srgbClr val="C13C31"/>
            </a:solidFill>
          </p:spPr>
          <p:txBody>
            <a:bodyPr/>
            <a:lstStyle/>
            <a:p>
              <a:endParaRPr lang="en-GB"/>
            </a:p>
          </p:txBody>
        </p:sp>
        <p:sp>
          <p:nvSpPr>
            <p:cNvPr id="12" name="TextBox 12"/>
            <p:cNvSpPr txBox="1"/>
            <p:nvPr/>
          </p:nvSpPr>
          <p:spPr>
            <a:xfrm>
              <a:off x="79245" y="152400"/>
              <a:ext cx="307076" cy="274320"/>
            </a:xfrm>
            <a:prstGeom prst="rect">
              <a:avLst/>
            </a:prstGeom>
          </p:spPr>
          <p:txBody>
            <a:bodyPr lIns="50800" tIns="50800" rIns="50800" bIns="50800" rtlCol="0" anchor="ctr"/>
            <a:lstStyle/>
            <a:p>
              <a:pPr algn="ctr">
                <a:lnSpc>
                  <a:spcPts val="2750"/>
                </a:lnSpc>
              </a:pPr>
              <a:endParaRPr/>
            </a:p>
          </p:txBody>
        </p:sp>
      </p:grpSp>
      <p:grpSp>
        <p:nvGrpSpPr>
          <p:cNvPr id="13" name="Group 13"/>
          <p:cNvGrpSpPr/>
          <p:nvPr/>
        </p:nvGrpSpPr>
        <p:grpSpPr>
          <a:xfrm>
            <a:off x="4510174" y="5447673"/>
            <a:ext cx="757820" cy="881157"/>
            <a:chOff x="0" y="0"/>
            <a:chExt cx="241609" cy="280932"/>
          </a:xfrm>
        </p:grpSpPr>
        <p:sp>
          <p:nvSpPr>
            <p:cNvPr id="14" name="Freeform 14"/>
            <p:cNvSpPr/>
            <p:nvPr/>
          </p:nvSpPr>
          <p:spPr>
            <a:xfrm>
              <a:off x="0" y="0"/>
              <a:ext cx="241609" cy="280931"/>
            </a:xfrm>
            <a:custGeom>
              <a:avLst/>
              <a:gdLst/>
              <a:ahLst/>
              <a:cxnLst/>
              <a:rect l="l" t="t" r="r" b="b"/>
              <a:pathLst>
                <a:path w="241609" h="280931">
                  <a:moveTo>
                    <a:pt x="0" y="0"/>
                  </a:moveTo>
                  <a:lnTo>
                    <a:pt x="241609" y="0"/>
                  </a:lnTo>
                  <a:lnTo>
                    <a:pt x="241609" y="280931"/>
                  </a:lnTo>
                  <a:lnTo>
                    <a:pt x="0" y="280931"/>
                  </a:lnTo>
                  <a:close/>
                </a:path>
              </a:pathLst>
            </a:custGeom>
            <a:ln w="38100" cap="sq">
              <a:solidFill>
                <a:srgbClr val="FFFFFF"/>
              </a:solidFill>
              <a:prstDash val="solid"/>
              <a:miter/>
            </a:ln>
          </p:spPr>
          <p:txBody>
            <a:bodyPr/>
            <a:lstStyle/>
            <a:p>
              <a:endParaRPr lang="en-GB"/>
            </a:p>
          </p:txBody>
        </p:sp>
        <p:sp>
          <p:nvSpPr>
            <p:cNvPr id="15" name="TextBox 15"/>
            <p:cNvSpPr txBox="1"/>
            <p:nvPr/>
          </p:nvSpPr>
          <p:spPr>
            <a:xfrm>
              <a:off x="0" y="19050"/>
              <a:ext cx="241609" cy="261882"/>
            </a:xfrm>
            <a:prstGeom prst="rect">
              <a:avLst/>
            </a:prstGeom>
          </p:spPr>
          <p:txBody>
            <a:bodyPr lIns="50800" tIns="50800" rIns="50800" bIns="50800" rtlCol="0" anchor="ctr"/>
            <a:lstStyle/>
            <a:p>
              <a:pPr algn="ctr">
                <a:lnSpc>
                  <a:spcPts val="2750"/>
                </a:lnSpc>
              </a:pPr>
              <a:endParaRPr/>
            </a:p>
          </p:txBody>
        </p:sp>
      </p:grpSp>
      <p:sp>
        <p:nvSpPr>
          <p:cNvPr id="16" name="AutoShape 16"/>
          <p:cNvSpPr/>
          <p:nvPr/>
        </p:nvSpPr>
        <p:spPr>
          <a:xfrm flipH="1" flipV="1">
            <a:off x="754574" y="680954"/>
            <a:ext cx="0" cy="11014301"/>
          </a:xfrm>
          <a:prstGeom prst="line">
            <a:avLst/>
          </a:prstGeom>
          <a:ln w="38100" cap="flat">
            <a:solidFill>
              <a:srgbClr val="FFFFFF"/>
            </a:solidFill>
            <a:prstDash val="solid"/>
            <a:headEnd type="none" w="sm" len="sm"/>
            <a:tailEnd type="none" w="sm" len="sm"/>
          </a:ln>
        </p:spPr>
        <p:txBody>
          <a:bodyPr/>
          <a:lstStyle/>
          <a:p>
            <a:endParaRPr lang="en-GB"/>
          </a:p>
        </p:txBody>
      </p:sp>
      <p:sp>
        <p:nvSpPr>
          <p:cNvPr id="17" name="AutoShape 17"/>
          <p:cNvSpPr/>
          <p:nvPr/>
        </p:nvSpPr>
        <p:spPr>
          <a:xfrm flipV="1">
            <a:off x="17604958" y="-822728"/>
            <a:ext cx="0" cy="10373558"/>
          </a:xfrm>
          <a:prstGeom prst="line">
            <a:avLst/>
          </a:prstGeom>
          <a:ln w="38100" cap="flat">
            <a:solidFill>
              <a:srgbClr val="FFFFFF"/>
            </a:solidFill>
            <a:prstDash val="solid"/>
            <a:headEnd type="none" w="sm" len="sm"/>
            <a:tailEnd type="none" w="sm" len="sm"/>
          </a:ln>
        </p:spPr>
        <p:txBody>
          <a:bodyPr/>
          <a:lstStyle/>
          <a:p>
            <a:endParaRPr lang="en-GB"/>
          </a:p>
        </p:txBody>
      </p:sp>
      <p:grpSp>
        <p:nvGrpSpPr>
          <p:cNvPr id="18" name="Group 18"/>
          <p:cNvGrpSpPr/>
          <p:nvPr/>
        </p:nvGrpSpPr>
        <p:grpSpPr>
          <a:xfrm>
            <a:off x="497873" y="424253"/>
            <a:ext cx="513401" cy="51340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CDCDD"/>
            </a:solidFill>
          </p:spPr>
          <p:txBody>
            <a:bodyPr/>
            <a:lstStyle/>
            <a:p>
              <a:endParaRPr lang="en-GB"/>
            </a:p>
          </p:txBody>
        </p:sp>
        <p:sp>
          <p:nvSpPr>
            <p:cNvPr id="20" name="TextBox 20"/>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grpSp>
        <p:nvGrpSpPr>
          <p:cNvPr id="21" name="Group 21"/>
          <p:cNvGrpSpPr/>
          <p:nvPr/>
        </p:nvGrpSpPr>
        <p:grpSpPr>
          <a:xfrm>
            <a:off x="17348258" y="9294129"/>
            <a:ext cx="513401" cy="51340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3C31"/>
            </a:solidFill>
          </p:spPr>
          <p:txBody>
            <a:bodyPr/>
            <a:lstStyle/>
            <a:p>
              <a:endParaRPr lang="en-GB"/>
            </a:p>
          </p:txBody>
        </p:sp>
        <p:sp>
          <p:nvSpPr>
            <p:cNvPr id="23" name="TextBox 23"/>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sp>
        <p:nvSpPr>
          <p:cNvPr id="24" name="Freeform 24"/>
          <p:cNvSpPr/>
          <p:nvPr/>
        </p:nvSpPr>
        <p:spPr>
          <a:xfrm>
            <a:off x="14947266" y="840585"/>
            <a:ext cx="1885436" cy="485500"/>
          </a:xfrm>
          <a:custGeom>
            <a:avLst/>
            <a:gdLst/>
            <a:ahLst/>
            <a:cxnLst/>
            <a:rect l="l" t="t" r="r" b="b"/>
            <a:pathLst>
              <a:path w="1885436" h="485500">
                <a:moveTo>
                  <a:pt x="0" y="0"/>
                </a:moveTo>
                <a:lnTo>
                  <a:pt x="1885436" y="0"/>
                </a:lnTo>
                <a:lnTo>
                  <a:pt x="1885436" y="485500"/>
                </a:lnTo>
                <a:lnTo>
                  <a:pt x="0" y="485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5" name="Freeform 25"/>
          <p:cNvSpPr/>
          <p:nvPr/>
        </p:nvSpPr>
        <p:spPr>
          <a:xfrm>
            <a:off x="1730690" y="9173954"/>
            <a:ext cx="1062322" cy="240350"/>
          </a:xfrm>
          <a:custGeom>
            <a:avLst/>
            <a:gdLst/>
            <a:ahLst/>
            <a:cxnLst/>
            <a:rect l="l" t="t" r="r" b="b"/>
            <a:pathLst>
              <a:path w="1062322" h="240350">
                <a:moveTo>
                  <a:pt x="0" y="0"/>
                </a:moveTo>
                <a:lnTo>
                  <a:pt x="1062322" y="0"/>
                </a:lnTo>
                <a:lnTo>
                  <a:pt x="1062322" y="240350"/>
                </a:lnTo>
                <a:lnTo>
                  <a:pt x="0" y="2403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6" name="TextBox 26"/>
          <p:cNvSpPr txBox="1"/>
          <p:nvPr/>
        </p:nvSpPr>
        <p:spPr>
          <a:xfrm>
            <a:off x="920780" y="3022704"/>
            <a:ext cx="16517972" cy="1882044"/>
          </a:xfrm>
          <a:prstGeom prst="rect">
            <a:avLst/>
          </a:prstGeom>
        </p:spPr>
        <p:txBody>
          <a:bodyPr lIns="0" tIns="0" rIns="0" bIns="0" rtlCol="0" anchor="t">
            <a:spAutoFit/>
          </a:bodyPr>
          <a:lstStyle/>
          <a:p>
            <a:pPr algn="l">
              <a:lnSpc>
                <a:spcPts val="14511"/>
              </a:lnSpc>
            </a:pPr>
            <a:r>
              <a:rPr lang="en-US" sz="13192" b="1">
                <a:solidFill>
                  <a:srgbClr val="FFFFFF"/>
                </a:solidFill>
                <a:latin typeface="Montserrat Bold"/>
                <a:ea typeface="Montserrat Bold"/>
                <a:cs typeface="Montserrat Bold"/>
                <a:sym typeface="Montserrat Bold"/>
              </a:rPr>
              <a:t>NorthBridge Bank</a:t>
            </a:r>
          </a:p>
        </p:txBody>
      </p:sp>
      <p:sp>
        <p:nvSpPr>
          <p:cNvPr id="27" name="TextBox 27"/>
          <p:cNvSpPr txBox="1"/>
          <p:nvPr/>
        </p:nvSpPr>
        <p:spPr>
          <a:xfrm>
            <a:off x="5557056" y="4977081"/>
            <a:ext cx="10332929" cy="2530999"/>
          </a:xfrm>
          <a:prstGeom prst="rect">
            <a:avLst/>
          </a:prstGeom>
        </p:spPr>
        <p:txBody>
          <a:bodyPr lIns="0" tIns="0" rIns="0" bIns="0" rtlCol="0" anchor="t">
            <a:spAutoFit/>
          </a:bodyPr>
          <a:lstStyle/>
          <a:p>
            <a:pPr algn="l">
              <a:lnSpc>
                <a:spcPts val="19570"/>
              </a:lnSpc>
            </a:pPr>
            <a:r>
              <a:rPr lang="en-US" sz="17791" b="1">
                <a:solidFill>
                  <a:srgbClr val="FFFFFF"/>
                </a:solidFill>
                <a:latin typeface="Montserrat Bold"/>
                <a:ea typeface="Montserrat Bold"/>
                <a:cs typeface="Montserrat Bold"/>
                <a:sym typeface="Montserrat Bold"/>
              </a:rPr>
              <a:t>Analysis</a:t>
            </a:r>
          </a:p>
        </p:txBody>
      </p:sp>
      <p:sp>
        <p:nvSpPr>
          <p:cNvPr id="28" name="TextBox 28"/>
          <p:cNvSpPr txBox="1"/>
          <p:nvPr/>
        </p:nvSpPr>
        <p:spPr>
          <a:xfrm>
            <a:off x="4607510" y="1546454"/>
            <a:ext cx="2642823" cy="390308"/>
          </a:xfrm>
          <a:prstGeom prst="rect">
            <a:avLst/>
          </a:prstGeom>
        </p:spPr>
        <p:txBody>
          <a:bodyPr lIns="0" tIns="0" rIns="0" bIns="0" rtlCol="0" anchor="t">
            <a:spAutoFit/>
          </a:bodyPr>
          <a:lstStyle/>
          <a:p>
            <a:pPr algn="l">
              <a:lnSpc>
                <a:spcPts val="3161"/>
              </a:lnSpc>
            </a:pPr>
            <a:r>
              <a:rPr lang="en-US" sz="2258">
                <a:solidFill>
                  <a:srgbClr val="FFFFFF"/>
                </a:solidFill>
                <a:latin typeface="Inter"/>
                <a:ea typeface="Inter"/>
                <a:cs typeface="Inter"/>
                <a:sym typeface="Inter"/>
              </a:rPr>
              <a:t>NorthBridge Bank</a:t>
            </a:r>
          </a:p>
        </p:txBody>
      </p:sp>
      <p:sp>
        <p:nvSpPr>
          <p:cNvPr id="29" name="TextBox 29"/>
          <p:cNvSpPr txBox="1"/>
          <p:nvPr/>
        </p:nvSpPr>
        <p:spPr>
          <a:xfrm>
            <a:off x="3828109" y="7450931"/>
            <a:ext cx="4417774" cy="2369951"/>
          </a:xfrm>
          <a:prstGeom prst="rect">
            <a:avLst/>
          </a:prstGeom>
        </p:spPr>
        <p:txBody>
          <a:bodyPr lIns="0" tIns="0" rIns="0" bIns="0" rtlCol="0" anchor="t">
            <a:spAutoFit/>
          </a:bodyPr>
          <a:lstStyle/>
          <a:p>
            <a:pPr algn="l">
              <a:lnSpc>
                <a:spcPts val="3772"/>
              </a:lnSpc>
            </a:pPr>
            <a:r>
              <a:rPr lang="en-US" sz="2694">
                <a:solidFill>
                  <a:srgbClr val="FFFFFF"/>
                </a:solidFill>
                <a:latin typeface="Inter"/>
                <a:ea typeface="Inter"/>
                <a:cs typeface="Inter"/>
                <a:sym typeface="Inter"/>
              </a:rPr>
              <a:t>Presentd By:</a:t>
            </a:r>
          </a:p>
          <a:p>
            <a:pPr marL="581813" lvl="1" indent="-290906" algn="l">
              <a:lnSpc>
                <a:spcPts val="3772"/>
              </a:lnSpc>
              <a:buFont typeface="Arial"/>
              <a:buChar char="•"/>
            </a:pPr>
            <a:r>
              <a:rPr lang="en-US" sz="2694">
                <a:solidFill>
                  <a:srgbClr val="FFFFFF"/>
                </a:solidFill>
                <a:latin typeface="Inter"/>
                <a:ea typeface="Inter"/>
                <a:cs typeface="Inter"/>
                <a:sym typeface="Inter"/>
              </a:rPr>
              <a:t>Hue-Mai T.</a:t>
            </a:r>
          </a:p>
          <a:p>
            <a:pPr marL="581813" lvl="1" indent="-290906" algn="l">
              <a:lnSpc>
                <a:spcPts val="3772"/>
              </a:lnSpc>
              <a:buFont typeface="Arial"/>
              <a:buChar char="•"/>
            </a:pPr>
            <a:r>
              <a:rPr lang="en-US" sz="2694">
                <a:solidFill>
                  <a:srgbClr val="FFFFFF"/>
                </a:solidFill>
                <a:latin typeface="Inter"/>
                <a:ea typeface="Inter"/>
                <a:cs typeface="Inter"/>
                <a:sym typeface="Inter"/>
              </a:rPr>
              <a:t>Zsolt S.</a:t>
            </a:r>
          </a:p>
          <a:p>
            <a:pPr marL="581813" lvl="1" indent="-290906" algn="l">
              <a:lnSpc>
                <a:spcPts val="3772"/>
              </a:lnSpc>
              <a:buFont typeface="Arial"/>
              <a:buChar char="•"/>
            </a:pPr>
            <a:r>
              <a:rPr lang="en-US" sz="2694">
                <a:solidFill>
                  <a:srgbClr val="FFFFFF"/>
                </a:solidFill>
                <a:latin typeface="Inter"/>
                <a:ea typeface="Inter"/>
                <a:cs typeface="Inter"/>
                <a:sym typeface="Inter"/>
              </a:rPr>
              <a:t>Mobeen R.</a:t>
            </a:r>
          </a:p>
          <a:p>
            <a:pPr marL="581813" lvl="1" indent="-290906" algn="l">
              <a:lnSpc>
                <a:spcPts val="3772"/>
              </a:lnSpc>
              <a:buFont typeface="Arial"/>
              <a:buChar char="•"/>
            </a:pPr>
            <a:r>
              <a:rPr lang="en-US" sz="2694">
                <a:solidFill>
                  <a:srgbClr val="FFFFFF"/>
                </a:solidFill>
                <a:latin typeface="Inter"/>
                <a:ea typeface="Inter"/>
                <a:cs typeface="Inter"/>
                <a:sym typeface="Inter"/>
              </a:rPr>
              <a:t>Dulce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en-GB"/>
          </a:p>
        </p:txBody>
      </p:sp>
      <p:grpSp>
        <p:nvGrpSpPr>
          <p:cNvPr id="3" name="Group 3"/>
          <p:cNvGrpSpPr/>
          <p:nvPr/>
        </p:nvGrpSpPr>
        <p:grpSpPr>
          <a:xfrm>
            <a:off x="10158965" y="8144350"/>
            <a:ext cx="9593987" cy="2566935"/>
            <a:chOff x="0" y="0"/>
            <a:chExt cx="1518931" cy="406400"/>
          </a:xfrm>
        </p:grpSpPr>
        <p:sp>
          <p:nvSpPr>
            <p:cNvPr id="4" name="Freeform 4"/>
            <p:cNvSpPr/>
            <p:nvPr/>
          </p:nvSpPr>
          <p:spPr>
            <a:xfrm>
              <a:off x="6017" y="0"/>
              <a:ext cx="1506898" cy="406400"/>
            </a:xfrm>
            <a:custGeom>
              <a:avLst/>
              <a:gdLst/>
              <a:ahLst/>
              <a:cxnLst/>
              <a:rect l="l" t="t" r="r" b="b"/>
              <a:pathLst>
                <a:path w="1506898" h="406400">
                  <a:moveTo>
                    <a:pt x="1295188" y="0"/>
                  </a:moveTo>
                  <a:lnTo>
                    <a:pt x="211708" y="0"/>
                  </a:lnTo>
                  <a:cubicBezTo>
                    <a:pt x="202408" y="0"/>
                    <a:pt x="193488" y="3695"/>
                    <a:pt x="186912" y="10271"/>
                  </a:cubicBezTo>
                  <a:lnTo>
                    <a:pt x="4254" y="192929"/>
                  </a:lnTo>
                  <a:cubicBezTo>
                    <a:pt x="1530" y="195653"/>
                    <a:pt x="0" y="199348"/>
                    <a:pt x="0" y="203200"/>
                  </a:cubicBezTo>
                  <a:cubicBezTo>
                    <a:pt x="0" y="207052"/>
                    <a:pt x="1530" y="210747"/>
                    <a:pt x="4254" y="213471"/>
                  </a:cubicBezTo>
                  <a:lnTo>
                    <a:pt x="186912" y="396129"/>
                  </a:lnTo>
                  <a:cubicBezTo>
                    <a:pt x="193488" y="402705"/>
                    <a:pt x="202408" y="406400"/>
                    <a:pt x="211708" y="406400"/>
                  </a:cubicBezTo>
                  <a:lnTo>
                    <a:pt x="1295188" y="406400"/>
                  </a:lnTo>
                  <a:cubicBezTo>
                    <a:pt x="1304489" y="406400"/>
                    <a:pt x="1313408" y="402705"/>
                    <a:pt x="1319984" y="396129"/>
                  </a:cubicBezTo>
                  <a:lnTo>
                    <a:pt x="1502643" y="213471"/>
                  </a:lnTo>
                  <a:cubicBezTo>
                    <a:pt x="1505367" y="210747"/>
                    <a:pt x="1506897" y="207052"/>
                    <a:pt x="1506897" y="203200"/>
                  </a:cubicBezTo>
                  <a:cubicBezTo>
                    <a:pt x="1506897" y="199348"/>
                    <a:pt x="1505367" y="195653"/>
                    <a:pt x="1502643" y="192929"/>
                  </a:cubicBezTo>
                  <a:lnTo>
                    <a:pt x="1319984" y="10271"/>
                  </a:lnTo>
                  <a:cubicBezTo>
                    <a:pt x="1313408" y="3695"/>
                    <a:pt x="1304489" y="0"/>
                    <a:pt x="1295188" y="0"/>
                  </a:cubicBezTo>
                  <a:close/>
                </a:path>
              </a:pathLst>
            </a:custGeom>
            <a:solidFill>
              <a:srgbClr val="C13C31"/>
            </a:solidFill>
          </p:spPr>
          <p:txBody>
            <a:bodyPr/>
            <a:lstStyle/>
            <a:p>
              <a:endParaRPr lang="en-GB"/>
            </a:p>
          </p:txBody>
        </p:sp>
        <p:sp>
          <p:nvSpPr>
            <p:cNvPr id="5" name="TextBox 5"/>
            <p:cNvSpPr txBox="1"/>
            <p:nvPr/>
          </p:nvSpPr>
          <p:spPr>
            <a:xfrm>
              <a:off x="152400" y="19050"/>
              <a:ext cx="1214131" cy="387350"/>
            </a:xfrm>
            <a:prstGeom prst="rect">
              <a:avLst/>
            </a:prstGeom>
          </p:spPr>
          <p:txBody>
            <a:bodyPr lIns="50800" tIns="50800" rIns="50800" bIns="50800" rtlCol="0" anchor="ctr"/>
            <a:lstStyle/>
            <a:p>
              <a:pPr algn="ctr">
                <a:lnSpc>
                  <a:spcPts val="2750"/>
                </a:lnSpc>
              </a:pPr>
              <a:endParaRPr/>
            </a:p>
          </p:txBody>
        </p:sp>
      </p:grpSp>
      <p:grpSp>
        <p:nvGrpSpPr>
          <p:cNvPr id="6" name="Group 6"/>
          <p:cNvGrpSpPr/>
          <p:nvPr/>
        </p:nvGrpSpPr>
        <p:grpSpPr>
          <a:xfrm>
            <a:off x="11289715" y="1028700"/>
            <a:ext cx="7822653" cy="6774065"/>
            <a:chOff x="0" y="0"/>
            <a:chExt cx="4282440" cy="3708400"/>
          </a:xfrm>
        </p:grpSpPr>
        <p:sp>
          <p:nvSpPr>
            <p:cNvPr id="7" name="Freeform 7"/>
            <p:cNvSpPr/>
            <p:nvPr/>
          </p:nvSpPr>
          <p:spPr>
            <a:xfrm>
              <a:off x="41919" y="0"/>
              <a:ext cx="4198603" cy="3708400"/>
            </a:xfrm>
            <a:custGeom>
              <a:avLst/>
              <a:gdLst/>
              <a:ahLst/>
              <a:cxnLst/>
              <a:rect l="l" t="t" r="r" b="b"/>
              <a:pathLst>
                <a:path w="4198603" h="3708400">
                  <a:moveTo>
                    <a:pt x="3013480" y="0"/>
                  </a:moveTo>
                  <a:lnTo>
                    <a:pt x="1185122" y="0"/>
                  </a:lnTo>
                  <a:cubicBezTo>
                    <a:pt x="1088322" y="0"/>
                    <a:pt x="998874" y="51641"/>
                    <a:pt x="950471" y="135471"/>
                  </a:cubicBezTo>
                  <a:lnTo>
                    <a:pt x="36301" y="1718729"/>
                  </a:lnTo>
                  <a:cubicBezTo>
                    <a:pt x="-12101" y="1802558"/>
                    <a:pt x="-12101" y="1905842"/>
                    <a:pt x="36301" y="1989671"/>
                  </a:cubicBezTo>
                  <a:lnTo>
                    <a:pt x="950471" y="3572929"/>
                  </a:lnTo>
                  <a:cubicBezTo>
                    <a:pt x="998874" y="3656759"/>
                    <a:pt x="1088322" y="3708400"/>
                    <a:pt x="1185122" y="3708400"/>
                  </a:cubicBezTo>
                  <a:lnTo>
                    <a:pt x="3013480" y="3708400"/>
                  </a:lnTo>
                  <a:cubicBezTo>
                    <a:pt x="3110280" y="3708400"/>
                    <a:pt x="3199728" y="3656759"/>
                    <a:pt x="3248131" y="3572929"/>
                  </a:cubicBezTo>
                  <a:lnTo>
                    <a:pt x="4162301" y="1989671"/>
                  </a:lnTo>
                  <a:cubicBezTo>
                    <a:pt x="4210703" y="1905842"/>
                    <a:pt x="4210703" y="1802558"/>
                    <a:pt x="4162301" y="1718729"/>
                  </a:cubicBezTo>
                  <a:lnTo>
                    <a:pt x="3248131" y="135471"/>
                  </a:lnTo>
                  <a:cubicBezTo>
                    <a:pt x="3199728" y="51641"/>
                    <a:pt x="3110280" y="0"/>
                    <a:pt x="3013480" y="0"/>
                  </a:cubicBezTo>
                  <a:close/>
                </a:path>
              </a:pathLst>
            </a:custGeom>
            <a:blipFill>
              <a:blip r:embed="rId4"/>
              <a:stretch>
                <a:fillRect l="-16545" r="-16545"/>
              </a:stretch>
            </a:blipFill>
          </p:spPr>
          <p:txBody>
            <a:bodyPr/>
            <a:lstStyle/>
            <a:p>
              <a:endParaRPr lang="en-GB"/>
            </a:p>
          </p:txBody>
        </p:sp>
      </p:grpSp>
      <p:grpSp>
        <p:nvGrpSpPr>
          <p:cNvPr id="8" name="Group 8"/>
          <p:cNvGrpSpPr/>
          <p:nvPr/>
        </p:nvGrpSpPr>
        <p:grpSpPr>
          <a:xfrm>
            <a:off x="10610360" y="5518059"/>
            <a:ext cx="4095323" cy="3546365"/>
            <a:chOff x="0" y="0"/>
            <a:chExt cx="4282440" cy="3708400"/>
          </a:xfrm>
        </p:grpSpPr>
        <p:sp>
          <p:nvSpPr>
            <p:cNvPr id="9" name="Freeform 9"/>
            <p:cNvSpPr/>
            <p:nvPr/>
          </p:nvSpPr>
          <p:spPr>
            <a:xfrm>
              <a:off x="80070" y="0"/>
              <a:ext cx="4122299" cy="3708400"/>
            </a:xfrm>
            <a:custGeom>
              <a:avLst/>
              <a:gdLst/>
              <a:ahLst/>
              <a:cxnLst/>
              <a:rect l="l" t="t" r="r" b="b"/>
              <a:pathLst>
                <a:path w="4122299" h="3708400">
                  <a:moveTo>
                    <a:pt x="2832954" y="0"/>
                  </a:moveTo>
                  <a:lnTo>
                    <a:pt x="1289346" y="0"/>
                  </a:lnTo>
                  <a:cubicBezTo>
                    <a:pt x="1104443" y="0"/>
                    <a:pt x="933585" y="98641"/>
                    <a:pt x="841128" y="258768"/>
                  </a:cubicBezTo>
                  <a:lnTo>
                    <a:pt x="69342" y="1595432"/>
                  </a:lnTo>
                  <a:cubicBezTo>
                    <a:pt x="-23113" y="1755556"/>
                    <a:pt x="-23113" y="1952844"/>
                    <a:pt x="69342" y="2112968"/>
                  </a:cubicBezTo>
                  <a:lnTo>
                    <a:pt x="841128" y="3449632"/>
                  </a:lnTo>
                  <a:cubicBezTo>
                    <a:pt x="933585" y="3609759"/>
                    <a:pt x="1104443" y="3708400"/>
                    <a:pt x="1289346" y="3708400"/>
                  </a:cubicBezTo>
                  <a:lnTo>
                    <a:pt x="2832954" y="3708400"/>
                  </a:lnTo>
                  <a:cubicBezTo>
                    <a:pt x="3017857" y="3708400"/>
                    <a:pt x="3188715" y="3609759"/>
                    <a:pt x="3281172" y="3449632"/>
                  </a:cubicBezTo>
                  <a:lnTo>
                    <a:pt x="4052958" y="2112968"/>
                  </a:lnTo>
                  <a:cubicBezTo>
                    <a:pt x="4145414" y="1952844"/>
                    <a:pt x="4145414" y="1755556"/>
                    <a:pt x="4052958" y="1595432"/>
                  </a:cubicBezTo>
                  <a:lnTo>
                    <a:pt x="3281172" y="258768"/>
                  </a:lnTo>
                  <a:cubicBezTo>
                    <a:pt x="3188715" y="98641"/>
                    <a:pt x="3017857" y="0"/>
                    <a:pt x="2832954" y="0"/>
                  </a:cubicBezTo>
                  <a:close/>
                </a:path>
              </a:pathLst>
            </a:custGeom>
            <a:blipFill>
              <a:blip r:embed="rId5"/>
              <a:stretch>
                <a:fillRect l="-17408" r="-17408"/>
              </a:stretch>
            </a:blipFill>
          </p:spPr>
          <p:txBody>
            <a:bodyPr/>
            <a:lstStyle/>
            <a:p>
              <a:endParaRPr lang="en-GB"/>
            </a:p>
          </p:txBody>
        </p:sp>
      </p:grpSp>
      <p:sp>
        <p:nvSpPr>
          <p:cNvPr id="10" name="TextBox 10"/>
          <p:cNvSpPr txBox="1"/>
          <p:nvPr/>
        </p:nvSpPr>
        <p:spPr>
          <a:xfrm>
            <a:off x="529539" y="1594011"/>
            <a:ext cx="10080820" cy="930275"/>
          </a:xfrm>
          <a:prstGeom prst="rect">
            <a:avLst/>
          </a:prstGeom>
        </p:spPr>
        <p:txBody>
          <a:bodyPr lIns="0" tIns="0" rIns="0" bIns="0" rtlCol="0" anchor="t">
            <a:spAutoFit/>
          </a:bodyPr>
          <a:lstStyle/>
          <a:p>
            <a:pPr algn="l">
              <a:lnSpc>
                <a:spcPts val="7150"/>
              </a:lnSpc>
            </a:pPr>
            <a:r>
              <a:rPr lang="en-US" sz="6500" b="1">
                <a:solidFill>
                  <a:srgbClr val="000000"/>
                </a:solidFill>
                <a:latin typeface="Montserrat Bold"/>
                <a:ea typeface="Montserrat Bold"/>
                <a:cs typeface="Montserrat Bold"/>
                <a:sym typeface="Montserrat Bold"/>
              </a:rPr>
              <a:t>Presentation Summary</a:t>
            </a:r>
          </a:p>
        </p:txBody>
      </p:sp>
      <p:sp>
        <p:nvSpPr>
          <p:cNvPr id="11" name="TextBox 11"/>
          <p:cNvSpPr txBox="1"/>
          <p:nvPr/>
        </p:nvSpPr>
        <p:spPr>
          <a:xfrm>
            <a:off x="1401527" y="3213678"/>
            <a:ext cx="7742473" cy="3449828"/>
          </a:xfrm>
          <a:prstGeom prst="rect">
            <a:avLst/>
          </a:prstGeom>
        </p:spPr>
        <p:txBody>
          <a:bodyPr lIns="0" tIns="0" rIns="0" bIns="0" rtlCol="0" anchor="t">
            <a:spAutoFit/>
          </a:bodyPr>
          <a:lstStyle/>
          <a:p>
            <a:pPr marL="690881" lvl="1" indent="-345440" algn="just">
              <a:lnSpc>
                <a:spcPts val="6976"/>
              </a:lnSpc>
              <a:buFont typeface="Arial"/>
              <a:buChar char="•"/>
            </a:pPr>
            <a:r>
              <a:rPr lang="en-US" sz="3200">
                <a:solidFill>
                  <a:srgbClr val="000000"/>
                </a:solidFill>
                <a:latin typeface="Inter"/>
                <a:ea typeface="Inter"/>
                <a:cs typeface="Inter"/>
                <a:sym typeface="Inter"/>
              </a:rPr>
              <a:t>Revenue Insights</a:t>
            </a:r>
          </a:p>
          <a:p>
            <a:pPr marL="690881" lvl="1" indent="-345440" algn="just">
              <a:lnSpc>
                <a:spcPts val="6976"/>
              </a:lnSpc>
              <a:buFont typeface="Arial"/>
              <a:buChar char="•"/>
            </a:pPr>
            <a:r>
              <a:rPr lang="en-US" sz="3200">
                <a:solidFill>
                  <a:srgbClr val="000000"/>
                </a:solidFill>
                <a:latin typeface="Inter"/>
                <a:ea typeface="Inter"/>
                <a:cs typeface="Inter"/>
                <a:sym typeface="Inter"/>
              </a:rPr>
              <a:t>Churn-Satisfaction Correlation</a:t>
            </a:r>
          </a:p>
          <a:p>
            <a:pPr marL="690881" lvl="1" indent="-345440" algn="just">
              <a:lnSpc>
                <a:spcPts val="6976"/>
              </a:lnSpc>
              <a:buFont typeface="Arial"/>
              <a:buChar char="•"/>
            </a:pPr>
            <a:r>
              <a:rPr lang="en-US" sz="3200">
                <a:solidFill>
                  <a:srgbClr val="000000"/>
                </a:solidFill>
                <a:latin typeface="Inter"/>
                <a:ea typeface="Inter"/>
                <a:cs typeface="Inter"/>
                <a:sym typeface="Inter"/>
              </a:rPr>
              <a:t>Data Quality Findings</a:t>
            </a:r>
          </a:p>
          <a:p>
            <a:pPr marL="690881" lvl="1" indent="-345440" algn="just">
              <a:lnSpc>
                <a:spcPts val="6976"/>
              </a:lnSpc>
              <a:buFont typeface="Arial"/>
              <a:buChar char="•"/>
            </a:pPr>
            <a:r>
              <a:rPr lang="en-US" sz="3200">
                <a:solidFill>
                  <a:srgbClr val="000000"/>
                </a:solidFill>
                <a:latin typeface="Inter"/>
                <a:ea typeface="Inter"/>
                <a:cs typeface="Inter"/>
                <a:sym typeface="Inter"/>
              </a:rPr>
              <a:t>Recommendations</a:t>
            </a:r>
          </a:p>
        </p:txBody>
      </p:sp>
      <p:sp>
        <p:nvSpPr>
          <p:cNvPr id="12" name="Freeform 12"/>
          <p:cNvSpPr/>
          <p:nvPr/>
        </p:nvSpPr>
        <p:spPr>
          <a:xfrm>
            <a:off x="11533896" y="1294111"/>
            <a:ext cx="1885436" cy="485500"/>
          </a:xfrm>
          <a:custGeom>
            <a:avLst/>
            <a:gdLst/>
            <a:ahLst/>
            <a:cxnLst/>
            <a:rect l="l" t="t" r="r" b="b"/>
            <a:pathLst>
              <a:path w="1885436" h="485500">
                <a:moveTo>
                  <a:pt x="0" y="0"/>
                </a:moveTo>
                <a:lnTo>
                  <a:pt x="1885437" y="0"/>
                </a:lnTo>
                <a:lnTo>
                  <a:pt x="1885437" y="485500"/>
                </a:lnTo>
                <a:lnTo>
                  <a:pt x="0" y="4855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3" name="Freeform 13"/>
          <p:cNvSpPr/>
          <p:nvPr/>
        </p:nvSpPr>
        <p:spPr>
          <a:xfrm>
            <a:off x="980613" y="9138125"/>
            <a:ext cx="1062322" cy="240350"/>
          </a:xfrm>
          <a:custGeom>
            <a:avLst/>
            <a:gdLst/>
            <a:ahLst/>
            <a:cxnLst/>
            <a:rect l="l" t="t" r="r" b="b"/>
            <a:pathLst>
              <a:path w="1062322" h="240350">
                <a:moveTo>
                  <a:pt x="0" y="0"/>
                </a:moveTo>
                <a:lnTo>
                  <a:pt x="1062321" y="0"/>
                </a:lnTo>
                <a:lnTo>
                  <a:pt x="1062321" y="240350"/>
                </a:lnTo>
                <a:lnTo>
                  <a:pt x="0" y="24035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13C31"/>
        </a:solidFill>
        <a:effectLst/>
      </p:bgPr>
    </p:bg>
    <p:spTree>
      <p:nvGrpSpPr>
        <p:cNvPr id="1" name=""/>
        <p:cNvGrpSpPr/>
        <p:nvPr/>
      </p:nvGrpSpPr>
      <p:grpSpPr>
        <a:xfrm>
          <a:off x="0" y="0"/>
          <a:ext cx="0" cy="0"/>
          <a:chOff x="0" y="0"/>
          <a:chExt cx="0" cy="0"/>
        </a:xfrm>
      </p:grpSpPr>
      <p:grpSp>
        <p:nvGrpSpPr>
          <p:cNvPr id="2" name="Group 2"/>
          <p:cNvGrpSpPr/>
          <p:nvPr/>
        </p:nvGrpSpPr>
        <p:grpSpPr>
          <a:xfrm>
            <a:off x="155451" y="4701054"/>
            <a:ext cx="8830250" cy="4192380"/>
            <a:chOff x="0" y="0"/>
            <a:chExt cx="1580741" cy="750496"/>
          </a:xfrm>
        </p:grpSpPr>
        <p:sp>
          <p:nvSpPr>
            <p:cNvPr id="3" name="Freeform 3"/>
            <p:cNvSpPr/>
            <p:nvPr/>
          </p:nvSpPr>
          <p:spPr>
            <a:xfrm>
              <a:off x="0" y="0"/>
              <a:ext cx="1580741" cy="750496"/>
            </a:xfrm>
            <a:custGeom>
              <a:avLst/>
              <a:gdLst/>
              <a:ahLst/>
              <a:cxnLst/>
              <a:rect l="l" t="t" r="r" b="b"/>
              <a:pathLst>
                <a:path w="1580741" h="750496">
                  <a:moveTo>
                    <a:pt x="20165" y="0"/>
                  </a:moveTo>
                  <a:lnTo>
                    <a:pt x="1560575" y="0"/>
                  </a:lnTo>
                  <a:cubicBezTo>
                    <a:pt x="1565924" y="0"/>
                    <a:pt x="1571053" y="2125"/>
                    <a:pt x="1574834" y="5906"/>
                  </a:cubicBezTo>
                  <a:cubicBezTo>
                    <a:pt x="1578616" y="9688"/>
                    <a:pt x="1580741" y="14817"/>
                    <a:pt x="1580741" y="20165"/>
                  </a:cubicBezTo>
                  <a:lnTo>
                    <a:pt x="1580741" y="730331"/>
                  </a:lnTo>
                  <a:cubicBezTo>
                    <a:pt x="1580741" y="741468"/>
                    <a:pt x="1571712" y="750496"/>
                    <a:pt x="1560575" y="750496"/>
                  </a:cubicBezTo>
                  <a:lnTo>
                    <a:pt x="20165" y="750496"/>
                  </a:lnTo>
                  <a:cubicBezTo>
                    <a:pt x="14817" y="750496"/>
                    <a:pt x="9688" y="748371"/>
                    <a:pt x="5906" y="744590"/>
                  </a:cubicBezTo>
                  <a:cubicBezTo>
                    <a:pt x="2125" y="740808"/>
                    <a:pt x="0" y="735679"/>
                    <a:pt x="0" y="730331"/>
                  </a:cubicBezTo>
                  <a:lnTo>
                    <a:pt x="0" y="20165"/>
                  </a:lnTo>
                  <a:cubicBezTo>
                    <a:pt x="0" y="14817"/>
                    <a:pt x="2125" y="9688"/>
                    <a:pt x="5906" y="5906"/>
                  </a:cubicBezTo>
                  <a:cubicBezTo>
                    <a:pt x="9688" y="2125"/>
                    <a:pt x="14817" y="0"/>
                    <a:pt x="20165" y="0"/>
                  </a:cubicBezTo>
                  <a:close/>
                </a:path>
              </a:pathLst>
            </a:custGeom>
            <a:blipFill>
              <a:blip r:embed="rId2"/>
              <a:stretch>
                <a:fillRect t="-1483" b="-1483"/>
              </a:stretch>
            </a:blipFill>
          </p:spPr>
          <p:txBody>
            <a:bodyPr/>
            <a:lstStyle/>
            <a:p>
              <a:endParaRPr lang="en-GB"/>
            </a:p>
          </p:txBody>
        </p:sp>
      </p:grpSp>
      <p:sp>
        <p:nvSpPr>
          <p:cNvPr id="4" name="AutoShape 4"/>
          <p:cNvSpPr/>
          <p:nvPr/>
        </p:nvSpPr>
        <p:spPr>
          <a:xfrm flipV="1">
            <a:off x="17604958" y="-822728"/>
            <a:ext cx="0" cy="10373558"/>
          </a:xfrm>
          <a:prstGeom prst="line">
            <a:avLst/>
          </a:prstGeom>
          <a:ln w="38100" cap="flat">
            <a:solidFill>
              <a:srgbClr val="FFFFFF"/>
            </a:solidFill>
            <a:prstDash val="solid"/>
            <a:headEnd type="none" w="sm" len="sm"/>
            <a:tailEnd type="none" w="sm" len="sm"/>
          </a:ln>
        </p:spPr>
        <p:txBody>
          <a:bodyPr/>
          <a:lstStyle/>
          <a:p>
            <a:endParaRPr lang="en-GB"/>
          </a:p>
        </p:txBody>
      </p:sp>
      <p:grpSp>
        <p:nvGrpSpPr>
          <p:cNvPr id="5" name="Group 5"/>
          <p:cNvGrpSpPr/>
          <p:nvPr/>
        </p:nvGrpSpPr>
        <p:grpSpPr>
          <a:xfrm>
            <a:off x="9348511" y="1529822"/>
            <a:ext cx="8135757" cy="4804882"/>
            <a:chOff x="0" y="0"/>
            <a:chExt cx="1489865" cy="879897"/>
          </a:xfrm>
        </p:grpSpPr>
        <p:sp>
          <p:nvSpPr>
            <p:cNvPr id="6" name="Freeform 6"/>
            <p:cNvSpPr/>
            <p:nvPr/>
          </p:nvSpPr>
          <p:spPr>
            <a:xfrm>
              <a:off x="0" y="0"/>
              <a:ext cx="1489865" cy="879897"/>
            </a:xfrm>
            <a:custGeom>
              <a:avLst/>
              <a:gdLst/>
              <a:ahLst/>
              <a:cxnLst/>
              <a:rect l="l" t="t" r="r" b="b"/>
              <a:pathLst>
                <a:path w="1489865" h="879897">
                  <a:moveTo>
                    <a:pt x="21887" y="0"/>
                  </a:moveTo>
                  <a:lnTo>
                    <a:pt x="1467978" y="0"/>
                  </a:lnTo>
                  <a:cubicBezTo>
                    <a:pt x="1480066" y="0"/>
                    <a:pt x="1489865" y="9799"/>
                    <a:pt x="1489865" y="21887"/>
                  </a:cubicBezTo>
                  <a:lnTo>
                    <a:pt x="1489865" y="858010"/>
                  </a:lnTo>
                  <a:cubicBezTo>
                    <a:pt x="1489865" y="870098"/>
                    <a:pt x="1480066" y="879897"/>
                    <a:pt x="1467978" y="879897"/>
                  </a:cubicBezTo>
                  <a:lnTo>
                    <a:pt x="21887" y="879897"/>
                  </a:lnTo>
                  <a:cubicBezTo>
                    <a:pt x="9799" y="879897"/>
                    <a:pt x="0" y="870098"/>
                    <a:pt x="0" y="858010"/>
                  </a:cubicBezTo>
                  <a:lnTo>
                    <a:pt x="0" y="21887"/>
                  </a:lnTo>
                  <a:cubicBezTo>
                    <a:pt x="0" y="9799"/>
                    <a:pt x="9799" y="0"/>
                    <a:pt x="21887" y="0"/>
                  </a:cubicBezTo>
                  <a:close/>
                </a:path>
              </a:pathLst>
            </a:custGeom>
            <a:blipFill>
              <a:blip r:embed="rId3"/>
              <a:stretch>
                <a:fillRect t="-886" b="-886"/>
              </a:stretch>
            </a:blipFill>
          </p:spPr>
          <p:txBody>
            <a:bodyPr/>
            <a:lstStyle/>
            <a:p>
              <a:endParaRPr lang="en-GB"/>
            </a:p>
          </p:txBody>
        </p:sp>
      </p:grpSp>
      <p:grpSp>
        <p:nvGrpSpPr>
          <p:cNvPr id="7" name="Group 7"/>
          <p:cNvGrpSpPr/>
          <p:nvPr/>
        </p:nvGrpSpPr>
        <p:grpSpPr>
          <a:xfrm>
            <a:off x="17348258" y="9294129"/>
            <a:ext cx="513401" cy="51340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GB"/>
            </a:p>
          </p:txBody>
        </p:sp>
        <p:sp>
          <p:nvSpPr>
            <p:cNvPr id="9" name="TextBox 9"/>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sp>
        <p:nvSpPr>
          <p:cNvPr id="10" name="Freeform 10"/>
          <p:cNvSpPr/>
          <p:nvPr/>
        </p:nvSpPr>
        <p:spPr>
          <a:xfrm>
            <a:off x="15340757" y="863797"/>
            <a:ext cx="1885436" cy="485500"/>
          </a:xfrm>
          <a:custGeom>
            <a:avLst/>
            <a:gdLst/>
            <a:ahLst/>
            <a:cxnLst/>
            <a:rect l="l" t="t" r="r" b="b"/>
            <a:pathLst>
              <a:path w="1885436" h="485500">
                <a:moveTo>
                  <a:pt x="0" y="0"/>
                </a:moveTo>
                <a:lnTo>
                  <a:pt x="1885436" y="0"/>
                </a:lnTo>
                <a:lnTo>
                  <a:pt x="1885436" y="485500"/>
                </a:lnTo>
                <a:lnTo>
                  <a:pt x="0" y="485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1" name="Freeform 11"/>
          <p:cNvSpPr/>
          <p:nvPr/>
        </p:nvSpPr>
        <p:spPr>
          <a:xfrm>
            <a:off x="980613" y="9138125"/>
            <a:ext cx="1062322" cy="240350"/>
          </a:xfrm>
          <a:custGeom>
            <a:avLst/>
            <a:gdLst/>
            <a:ahLst/>
            <a:cxnLst/>
            <a:rect l="l" t="t" r="r" b="b"/>
            <a:pathLst>
              <a:path w="1062322" h="240350">
                <a:moveTo>
                  <a:pt x="0" y="0"/>
                </a:moveTo>
                <a:lnTo>
                  <a:pt x="1062321" y="0"/>
                </a:lnTo>
                <a:lnTo>
                  <a:pt x="1062321" y="240350"/>
                </a:lnTo>
                <a:lnTo>
                  <a:pt x="0" y="2403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2" name="TextBox 12"/>
          <p:cNvSpPr txBox="1"/>
          <p:nvPr/>
        </p:nvSpPr>
        <p:spPr>
          <a:xfrm>
            <a:off x="740879" y="1173222"/>
            <a:ext cx="7982447" cy="1825625"/>
          </a:xfrm>
          <a:prstGeom prst="rect">
            <a:avLst/>
          </a:prstGeom>
        </p:spPr>
        <p:txBody>
          <a:bodyPr lIns="0" tIns="0" rIns="0" bIns="0" rtlCol="0" anchor="t">
            <a:spAutoFit/>
          </a:bodyPr>
          <a:lstStyle/>
          <a:p>
            <a:pPr algn="l">
              <a:lnSpc>
                <a:spcPts val="7150"/>
              </a:lnSpc>
            </a:pPr>
            <a:r>
              <a:rPr lang="en-US" sz="6500" b="1" dirty="0">
                <a:solidFill>
                  <a:srgbClr val="FFFFFF"/>
                </a:solidFill>
                <a:latin typeface="Open Sans Bold"/>
                <a:ea typeface="Open Sans Bold"/>
                <a:cs typeface="Open Sans Bold"/>
                <a:sym typeface="Open Sans Bold"/>
              </a:rPr>
              <a:t>Revenue &amp; Branch Performance</a:t>
            </a:r>
          </a:p>
        </p:txBody>
      </p:sp>
      <p:sp>
        <p:nvSpPr>
          <p:cNvPr id="13" name="TextBox 13"/>
          <p:cNvSpPr txBox="1"/>
          <p:nvPr/>
        </p:nvSpPr>
        <p:spPr>
          <a:xfrm>
            <a:off x="9474570" y="7221777"/>
            <a:ext cx="7641518" cy="1256562"/>
          </a:xfrm>
          <a:prstGeom prst="rect">
            <a:avLst/>
          </a:prstGeom>
        </p:spPr>
        <p:txBody>
          <a:bodyPr lIns="0" tIns="0" rIns="0" bIns="0" rtlCol="0" anchor="t">
            <a:spAutoFit/>
          </a:bodyPr>
          <a:lstStyle/>
          <a:p>
            <a:pPr marL="388628" lvl="1" indent="-194314" algn="l">
              <a:lnSpc>
                <a:spcPts val="2520"/>
              </a:lnSpc>
              <a:buFont typeface="Arial"/>
              <a:buChar char="•"/>
            </a:pPr>
            <a:r>
              <a:rPr lang="en-US" sz="2200" b="1" dirty="0">
                <a:solidFill>
                  <a:srgbClr val="FFFFFF"/>
                </a:solidFill>
                <a:latin typeface="Inter"/>
                <a:ea typeface="Inter"/>
                <a:cs typeface="Inter"/>
                <a:sym typeface="Inter"/>
              </a:rPr>
              <a:t>London - Top performing Branch</a:t>
            </a:r>
          </a:p>
          <a:p>
            <a:pPr marL="388628" lvl="1" indent="-194314" algn="l">
              <a:lnSpc>
                <a:spcPts val="2520"/>
              </a:lnSpc>
              <a:buFont typeface="Arial"/>
              <a:buChar char="•"/>
            </a:pPr>
            <a:r>
              <a:rPr lang="en-US" sz="2200" b="1" dirty="0">
                <a:solidFill>
                  <a:srgbClr val="FFFFFF"/>
                </a:solidFill>
                <a:latin typeface="Inter"/>
                <a:ea typeface="Inter"/>
                <a:cs typeface="Inter"/>
                <a:sym typeface="Inter"/>
              </a:rPr>
              <a:t>Revenue did not drop in Q3, but was the highest </a:t>
            </a:r>
          </a:p>
          <a:p>
            <a:pPr marL="388628" lvl="1" indent="-194314" algn="l">
              <a:lnSpc>
                <a:spcPts val="2520"/>
              </a:lnSpc>
              <a:buFont typeface="Arial"/>
              <a:buChar char="•"/>
            </a:pPr>
            <a:r>
              <a:rPr lang="en-US" sz="2200" b="1" dirty="0">
                <a:solidFill>
                  <a:srgbClr val="FFFFFF"/>
                </a:solidFill>
                <a:latin typeface="Inter"/>
                <a:ea typeface="Inter"/>
                <a:cs typeface="Inter"/>
                <a:sym typeface="Inter"/>
              </a:rPr>
              <a:t>Edinburgh has the lowest revenue per customer </a:t>
            </a:r>
          </a:p>
          <a:p>
            <a:pPr algn="l">
              <a:lnSpc>
                <a:spcPts val="2520"/>
              </a:lnSpc>
            </a:pPr>
            <a:endParaRPr lang="en-US" sz="1800" dirty="0">
              <a:solidFill>
                <a:srgbClr val="FFFFFF"/>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F33"/>
        </a:solidFill>
        <a:effectLst/>
      </p:bgPr>
    </p:bg>
    <p:spTree>
      <p:nvGrpSpPr>
        <p:cNvPr id="1" name=""/>
        <p:cNvGrpSpPr/>
        <p:nvPr/>
      </p:nvGrpSpPr>
      <p:grpSpPr>
        <a:xfrm>
          <a:off x="0" y="0"/>
          <a:ext cx="0" cy="0"/>
          <a:chOff x="0" y="0"/>
          <a:chExt cx="0" cy="0"/>
        </a:xfrm>
      </p:grpSpPr>
      <p:grpSp>
        <p:nvGrpSpPr>
          <p:cNvPr id="2" name="Group 2"/>
          <p:cNvGrpSpPr/>
          <p:nvPr/>
        </p:nvGrpSpPr>
        <p:grpSpPr>
          <a:xfrm>
            <a:off x="320558" y="391705"/>
            <a:ext cx="7474875" cy="3551101"/>
            <a:chOff x="0" y="0"/>
            <a:chExt cx="1927982" cy="915930"/>
          </a:xfrm>
        </p:grpSpPr>
        <p:sp>
          <p:nvSpPr>
            <p:cNvPr id="3" name="Freeform 3"/>
            <p:cNvSpPr/>
            <p:nvPr/>
          </p:nvSpPr>
          <p:spPr>
            <a:xfrm>
              <a:off x="0" y="0"/>
              <a:ext cx="1927982" cy="915930"/>
            </a:xfrm>
            <a:custGeom>
              <a:avLst/>
              <a:gdLst/>
              <a:ahLst/>
              <a:cxnLst/>
              <a:rect l="l" t="t" r="r" b="b"/>
              <a:pathLst>
                <a:path w="1927982" h="915930">
                  <a:moveTo>
                    <a:pt x="23822" y="0"/>
                  </a:moveTo>
                  <a:lnTo>
                    <a:pt x="1904161" y="0"/>
                  </a:lnTo>
                  <a:cubicBezTo>
                    <a:pt x="1910478" y="0"/>
                    <a:pt x="1916537" y="2510"/>
                    <a:pt x="1921005" y="6977"/>
                  </a:cubicBezTo>
                  <a:cubicBezTo>
                    <a:pt x="1925472" y="11445"/>
                    <a:pt x="1927982" y="17504"/>
                    <a:pt x="1927982" y="23822"/>
                  </a:cubicBezTo>
                  <a:lnTo>
                    <a:pt x="1927982" y="892108"/>
                  </a:lnTo>
                  <a:cubicBezTo>
                    <a:pt x="1927982" y="898426"/>
                    <a:pt x="1925472" y="904485"/>
                    <a:pt x="1921005" y="908953"/>
                  </a:cubicBezTo>
                  <a:cubicBezTo>
                    <a:pt x="1916537" y="913420"/>
                    <a:pt x="1910478" y="915930"/>
                    <a:pt x="1904161" y="915930"/>
                  </a:cubicBezTo>
                  <a:lnTo>
                    <a:pt x="23822" y="915930"/>
                  </a:lnTo>
                  <a:cubicBezTo>
                    <a:pt x="17504" y="915930"/>
                    <a:pt x="11445" y="913420"/>
                    <a:pt x="6977" y="908953"/>
                  </a:cubicBezTo>
                  <a:cubicBezTo>
                    <a:pt x="2510" y="904485"/>
                    <a:pt x="0" y="898426"/>
                    <a:pt x="0" y="892108"/>
                  </a:cubicBezTo>
                  <a:lnTo>
                    <a:pt x="0" y="23822"/>
                  </a:lnTo>
                  <a:cubicBezTo>
                    <a:pt x="0" y="17504"/>
                    <a:pt x="2510" y="11445"/>
                    <a:pt x="6977" y="6977"/>
                  </a:cubicBezTo>
                  <a:cubicBezTo>
                    <a:pt x="11445" y="2510"/>
                    <a:pt x="17504" y="0"/>
                    <a:pt x="23822" y="0"/>
                  </a:cubicBezTo>
                  <a:close/>
                </a:path>
              </a:pathLst>
            </a:custGeom>
            <a:blipFill>
              <a:blip r:embed="rId3"/>
              <a:stretch>
                <a:fillRect t="-1549" b="-1549"/>
              </a:stretch>
            </a:blipFill>
          </p:spPr>
          <p:txBody>
            <a:bodyPr/>
            <a:lstStyle/>
            <a:p>
              <a:endParaRPr lang="en-GB"/>
            </a:p>
          </p:txBody>
        </p:sp>
      </p:grpSp>
      <p:grpSp>
        <p:nvGrpSpPr>
          <p:cNvPr id="4" name="Group 4"/>
          <p:cNvGrpSpPr/>
          <p:nvPr/>
        </p:nvGrpSpPr>
        <p:grpSpPr>
          <a:xfrm>
            <a:off x="8815671" y="3476625"/>
            <a:ext cx="9110019" cy="6282202"/>
            <a:chOff x="0" y="0"/>
            <a:chExt cx="1434717" cy="989370"/>
          </a:xfrm>
        </p:grpSpPr>
        <p:sp>
          <p:nvSpPr>
            <p:cNvPr id="5" name="Freeform 5"/>
            <p:cNvSpPr/>
            <p:nvPr/>
          </p:nvSpPr>
          <p:spPr>
            <a:xfrm>
              <a:off x="0" y="0"/>
              <a:ext cx="1434717" cy="989370"/>
            </a:xfrm>
            <a:custGeom>
              <a:avLst/>
              <a:gdLst/>
              <a:ahLst/>
              <a:cxnLst/>
              <a:rect l="l" t="t" r="r" b="b"/>
              <a:pathLst>
                <a:path w="1434717" h="989370">
                  <a:moveTo>
                    <a:pt x="19546" y="0"/>
                  </a:moveTo>
                  <a:lnTo>
                    <a:pt x="1415171" y="0"/>
                  </a:lnTo>
                  <a:cubicBezTo>
                    <a:pt x="1420355" y="0"/>
                    <a:pt x="1425326" y="2059"/>
                    <a:pt x="1428992" y="5725"/>
                  </a:cubicBezTo>
                  <a:cubicBezTo>
                    <a:pt x="1432657" y="9390"/>
                    <a:pt x="1434717" y="14362"/>
                    <a:pt x="1434717" y="19546"/>
                  </a:cubicBezTo>
                  <a:lnTo>
                    <a:pt x="1434717" y="969824"/>
                  </a:lnTo>
                  <a:cubicBezTo>
                    <a:pt x="1434717" y="975008"/>
                    <a:pt x="1432657" y="979980"/>
                    <a:pt x="1428992" y="983645"/>
                  </a:cubicBezTo>
                  <a:cubicBezTo>
                    <a:pt x="1425326" y="987311"/>
                    <a:pt x="1420355" y="989370"/>
                    <a:pt x="1415171" y="989370"/>
                  </a:cubicBezTo>
                  <a:lnTo>
                    <a:pt x="19546" y="989370"/>
                  </a:lnTo>
                  <a:cubicBezTo>
                    <a:pt x="14362" y="989370"/>
                    <a:pt x="9390" y="987311"/>
                    <a:pt x="5725" y="983645"/>
                  </a:cubicBezTo>
                  <a:cubicBezTo>
                    <a:pt x="2059" y="979980"/>
                    <a:pt x="0" y="975008"/>
                    <a:pt x="0" y="969824"/>
                  </a:cubicBezTo>
                  <a:lnTo>
                    <a:pt x="0" y="19546"/>
                  </a:lnTo>
                  <a:cubicBezTo>
                    <a:pt x="0" y="14362"/>
                    <a:pt x="2059" y="9390"/>
                    <a:pt x="5725" y="5725"/>
                  </a:cubicBezTo>
                  <a:cubicBezTo>
                    <a:pt x="9390" y="2059"/>
                    <a:pt x="14362" y="0"/>
                    <a:pt x="19546" y="0"/>
                  </a:cubicBezTo>
                  <a:close/>
                </a:path>
              </a:pathLst>
            </a:custGeom>
            <a:blipFill>
              <a:blip r:embed="rId4"/>
              <a:stretch>
                <a:fillRect t="-721" b="-721"/>
              </a:stretch>
            </a:blipFill>
          </p:spPr>
          <p:txBody>
            <a:bodyPr/>
            <a:lstStyle/>
            <a:p>
              <a:endParaRPr lang="en-GB"/>
            </a:p>
          </p:txBody>
        </p:sp>
      </p:grpSp>
      <p:sp>
        <p:nvSpPr>
          <p:cNvPr id="6" name="TextBox 6"/>
          <p:cNvSpPr txBox="1"/>
          <p:nvPr/>
        </p:nvSpPr>
        <p:spPr>
          <a:xfrm>
            <a:off x="398215" y="8048269"/>
            <a:ext cx="7319561" cy="1835150"/>
          </a:xfrm>
          <a:prstGeom prst="rect">
            <a:avLst/>
          </a:prstGeom>
        </p:spPr>
        <p:txBody>
          <a:bodyPr lIns="0" tIns="0" rIns="0" bIns="0" rtlCol="0" anchor="t">
            <a:spAutoFit/>
          </a:bodyPr>
          <a:lstStyle/>
          <a:p>
            <a:pPr algn="l">
              <a:lnSpc>
                <a:spcPts val="7150"/>
              </a:lnSpc>
            </a:pPr>
            <a:r>
              <a:rPr lang="en-US" sz="6500" b="1">
                <a:solidFill>
                  <a:srgbClr val="FFFFFF"/>
                </a:solidFill>
                <a:latin typeface="Montserrat Bold"/>
                <a:ea typeface="Montserrat Bold"/>
                <a:cs typeface="Montserrat Bold"/>
                <a:sym typeface="Montserrat Bold"/>
              </a:rPr>
              <a:t>Churn &amp; Satisfaction</a:t>
            </a:r>
          </a:p>
        </p:txBody>
      </p:sp>
      <p:sp>
        <p:nvSpPr>
          <p:cNvPr id="7" name="TextBox 7"/>
          <p:cNvSpPr txBox="1"/>
          <p:nvPr/>
        </p:nvSpPr>
        <p:spPr>
          <a:xfrm>
            <a:off x="8686800" y="1168233"/>
            <a:ext cx="9110019" cy="1355756"/>
          </a:xfrm>
          <a:prstGeom prst="rect">
            <a:avLst/>
          </a:prstGeom>
        </p:spPr>
        <p:txBody>
          <a:bodyPr lIns="0" tIns="0" rIns="0" bIns="0" rtlCol="0" anchor="t">
            <a:spAutoFit/>
          </a:bodyPr>
          <a:lstStyle/>
          <a:p>
            <a:pPr marL="410218" lvl="1" indent="-205109" algn="l">
              <a:lnSpc>
                <a:spcPts val="2660"/>
              </a:lnSpc>
              <a:buFont typeface="Arial"/>
              <a:buChar char="•"/>
            </a:pPr>
            <a:r>
              <a:rPr lang="en-US" sz="2200" b="1" dirty="0">
                <a:solidFill>
                  <a:srgbClr val="FFFFFF"/>
                </a:solidFill>
                <a:latin typeface="Inter"/>
                <a:ea typeface="Inter"/>
                <a:cs typeface="Inter"/>
                <a:sym typeface="Inter"/>
              </a:rPr>
              <a:t>Some satisfaction scores are missing in the dataset</a:t>
            </a:r>
          </a:p>
          <a:p>
            <a:pPr marL="410218" lvl="1" indent="-205109" algn="l">
              <a:lnSpc>
                <a:spcPts val="2660"/>
              </a:lnSpc>
              <a:buFont typeface="Arial"/>
              <a:buChar char="•"/>
            </a:pPr>
            <a:r>
              <a:rPr lang="en-US" sz="2200" b="1" dirty="0">
                <a:solidFill>
                  <a:srgbClr val="FFFFFF"/>
                </a:solidFill>
                <a:latin typeface="Inter"/>
                <a:ea typeface="Inter"/>
                <a:cs typeface="Inter"/>
                <a:sym typeface="Inter"/>
              </a:rPr>
              <a:t>Filtered out missing satisfaction scores before investigating</a:t>
            </a:r>
          </a:p>
          <a:p>
            <a:pPr algn="l">
              <a:lnSpc>
                <a:spcPts val="2660"/>
              </a:lnSpc>
            </a:pPr>
            <a:endParaRPr lang="en-US" sz="1900" dirty="0">
              <a:solidFill>
                <a:srgbClr val="FFFFFF"/>
              </a:solidFill>
              <a:latin typeface="Inter"/>
              <a:ea typeface="Inter"/>
              <a:cs typeface="Inter"/>
              <a:sym typeface="Inter"/>
            </a:endParaRPr>
          </a:p>
          <a:p>
            <a:pPr algn="l">
              <a:lnSpc>
                <a:spcPts val="2660"/>
              </a:lnSpc>
            </a:pPr>
            <a:endParaRPr lang="en-US" sz="1900" dirty="0">
              <a:solidFill>
                <a:srgbClr val="FFFFFF"/>
              </a:solidFill>
              <a:latin typeface="Inter"/>
              <a:ea typeface="Inter"/>
              <a:cs typeface="Inter"/>
              <a:sym typeface="Inter"/>
            </a:endParaRPr>
          </a:p>
        </p:txBody>
      </p:sp>
      <p:sp>
        <p:nvSpPr>
          <p:cNvPr id="9" name="TextBox 7">
            <a:extLst>
              <a:ext uri="{FF2B5EF4-FFF2-40B4-BE49-F238E27FC236}">
                <a16:creationId xmlns:a16="http://schemas.microsoft.com/office/drawing/2014/main" id="{3937A80D-1784-B30B-713E-C2EA1A9F7172}"/>
              </a:ext>
            </a:extLst>
          </p:cNvPr>
          <p:cNvSpPr txBox="1"/>
          <p:nvPr/>
        </p:nvSpPr>
        <p:spPr>
          <a:xfrm>
            <a:off x="-152400" y="4608876"/>
            <a:ext cx="9110019" cy="3433248"/>
          </a:xfrm>
          <a:prstGeom prst="rect">
            <a:avLst/>
          </a:prstGeom>
        </p:spPr>
        <p:txBody>
          <a:bodyPr lIns="0" tIns="0" rIns="0" bIns="0" rtlCol="0" anchor="t">
            <a:spAutoFit/>
          </a:bodyPr>
          <a:lstStyle/>
          <a:p>
            <a:pPr marL="205109" lvl="1" algn="l">
              <a:lnSpc>
                <a:spcPts val="2660"/>
              </a:lnSpc>
            </a:pPr>
            <a:endParaRPr lang="en-US" sz="1900" dirty="0">
              <a:solidFill>
                <a:srgbClr val="FFFFFF"/>
              </a:solidFill>
              <a:latin typeface="Inter"/>
              <a:ea typeface="Inter"/>
              <a:cs typeface="Inter"/>
              <a:sym typeface="Inter"/>
            </a:endParaRPr>
          </a:p>
          <a:p>
            <a:pPr algn="l">
              <a:lnSpc>
                <a:spcPts val="2660"/>
              </a:lnSpc>
            </a:pPr>
            <a:endParaRPr lang="en-US" sz="1900" dirty="0">
              <a:solidFill>
                <a:srgbClr val="FFFFFF"/>
              </a:solidFill>
              <a:latin typeface="Inter"/>
              <a:ea typeface="Inter"/>
              <a:cs typeface="Inter"/>
              <a:sym typeface="Inter"/>
            </a:endParaRPr>
          </a:p>
          <a:p>
            <a:pPr>
              <a:lnSpc>
                <a:spcPts val="2660"/>
              </a:lnSpc>
            </a:pPr>
            <a:endParaRPr lang="en-US" sz="1900" dirty="0">
              <a:solidFill>
                <a:srgbClr val="FFFFFF"/>
              </a:solidFill>
              <a:latin typeface="Inter"/>
              <a:ea typeface="Inter"/>
              <a:cs typeface="Inter"/>
              <a:sym typeface="Inter"/>
            </a:endParaRPr>
          </a:p>
          <a:p>
            <a:pPr marL="410218" lvl="1" indent="-205109">
              <a:lnSpc>
                <a:spcPts val="2660"/>
              </a:lnSpc>
              <a:buFont typeface="Arial"/>
              <a:buChar char="•"/>
            </a:pPr>
            <a:r>
              <a:rPr lang="en-US" sz="2200" b="1" dirty="0">
                <a:solidFill>
                  <a:srgbClr val="FFFFFF"/>
                </a:solidFill>
                <a:latin typeface="Inter"/>
                <a:ea typeface="Inter"/>
                <a:cs typeface="Inter"/>
                <a:sym typeface="Inter"/>
              </a:rPr>
              <a:t>Churned customers have a lower average satisfaction score</a:t>
            </a:r>
          </a:p>
          <a:p>
            <a:pPr marL="410218" lvl="1" indent="-205109">
              <a:lnSpc>
                <a:spcPts val="2660"/>
              </a:lnSpc>
              <a:buFont typeface="Arial"/>
              <a:buChar char="•"/>
            </a:pPr>
            <a:r>
              <a:rPr lang="en-US" sz="2200" b="1" dirty="0">
                <a:solidFill>
                  <a:srgbClr val="FFFFFF"/>
                </a:solidFill>
                <a:latin typeface="Inter"/>
                <a:ea typeface="Inter"/>
                <a:cs typeface="Inter"/>
                <a:sym typeface="Inter"/>
              </a:rPr>
              <a:t>Retained customers have a higher average satisfaction score</a:t>
            </a:r>
          </a:p>
          <a:p>
            <a:pPr marL="410218" lvl="1" indent="-205109">
              <a:lnSpc>
                <a:spcPts val="2660"/>
              </a:lnSpc>
              <a:buFont typeface="Arial"/>
              <a:buChar char="•"/>
            </a:pPr>
            <a:r>
              <a:rPr lang="en-US" sz="2200" b="1" dirty="0">
                <a:solidFill>
                  <a:srgbClr val="FFFFFF"/>
                </a:solidFill>
                <a:latin typeface="Inter"/>
                <a:ea typeface="Inter"/>
                <a:cs typeface="Inter"/>
                <a:sym typeface="Inter"/>
              </a:rPr>
              <a:t>There is a correlation between the satisfaction score and churn status</a:t>
            </a:r>
          </a:p>
          <a:p>
            <a:pPr algn="l">
              <a:lnSpc>
                <a:spcPts val="2660"/>
              </a:lnSpc>
            </a:pPr>
            <a:endParaRPr lang="en-US" sz="1900" dirty="0">
              <a:solidFill>
                <a:srgbClr val="FFFFFF"/>
              </a:solidFill>
              <a:latin typeface="Inter"/>
              <a:ea typeface="Inter"/>
              <a:cs typeface="Inter"/>
              <a:sym typeface="Inter"/>
            </a:endParaRPr>
          </a:p>
          <a:p>
            <a:pPr algn="l">
              <a:lnSpc>
                <a:spcPts val="2660"/>
              </a:lnSpc>
            </a:pPr>
            <a:endParaRPr lang="en-US" sz="1900" dirty="0">
              <a:solidFill>
                <a:srgbClr val="FFFFFF"/>
              </a:solidFill>
              <a:latin typeface="Inter"/>
              <a:ea typeface="Inter"/>
              <a:cs typeface="Inter"/>
              <a:sym typeface="Inter"/>
            </a:endParaRPr>
          </a:p>
          <a:p>
            <a:pPr algn="l">
              <a:lnSpc>
                <a:spcPts val="2660"/>
              </a:lnSpc>
            </a:pPr>
            <a:endParaRPr lang="en-US" sz="1900" dirty="0">
              <a:solidFill>
                <a:srgbClr val="FFFFFF"/>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F33"/>
        </a:solidFill>
        <a:effectLst/>
      </p:bgPr>
    </p:bg>
    <p:spTree>
      <p:nvGrpSpPr>
        <p:cNvPr id="1" name=""/>
        <p:cNvGrpSpPr/>
        <p:nvPr/>
      </p:nvGrpSpPr>
      <p:grpSpPr>
        <a:xfrm>
          <a:off x="0" y="0"/>
          <a:ext cx="0" cy="0"/>
          <a:chOff x="0" y="0"/>
          <a:chExt cx="0" cy="0"/>
        </a:xfrm>
      </p:grpSpPr>
      <p:sp>
        <p:nvSpPr>
          <p:cNvPr id="2" name="Freeform 2"/>
          <p:cNvSpPr/>
          <p:nvPr/>
        </p:nvSpPr>
        <p:spPr>
          <a:xfrm>
            <a:off x="15340757" y="8694519"/>
            <a:ext cx="1885436" cy="485500"/>
          </a:xfrm>
          <a:custGeom>
            <a:avLst/>
            <a:gdLst/>
            <a:ahLst/>
            <a:cxnLst/>
            <a:rect l="l" t="t" r="r" b="b"/>
            <a:pathLst>
              <a:path w="1885436" h="485500">
                <a:moveTo>
                  <a:pt x="0" y="0"/>
                </a:moveTo>
                <a:lnTo>
                  <a:pt x="1885436" y="0"/>
                </a:lnTo>
                <a:lnTo>
                  <a:pt x="1885436" y="485500"/>
                </a:lnTo>
                <a:lnTo>
                  <a:pt x="0" y="485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681844" y="392891"/>
            <a:ext cx="6752303" cy="4058565"/>
          </a:xfrm>
          <a:custGeom>
            <a:avLst/>
            <a:gdLst/>
            <a:ahLst/>
            <a:cxnLst/>
            <a:rect l="l" t="t" r="r" b="b"/>
            <a:pathLst>
              <a:path w="6752303" h="4058565">
                <a:moveTo>
                  <a:pt x="0" y="0"/>
                </a:moveTo>
                <a:lnTo>
                  <a:pt x="6752303" y="0"/>
                </a:lnTo>
                <a:lnTo>
                  <a:pt x="6752303" y="4058565"/>
                </a:lnTo>
                <a:lnTo>
                  <a:pt x="0" y="4058565"/>
                </a:lnTo>
                <a:lnTo>
                  <a:pt x="0" y="0"/>
                </a:lnTo>
                <a:close/>
              </a:path>
            </a:pathLst>
          </a:custGeom>
          <a:blipFill>
            <a:blip r:embed="rId4"/>
            <a:stretch>
              <a:fillRect/>
            </a:stretch>
          </a:blipFill>
        </p:spPr>
        <p:txBody>
          <a:bodyPr/>
          <a:lstStyle/>
          <a:p>
            <a:endParaRPr lang="en-GB"/>
          </a:p>
        </p:txBody>
      </p:sp>
      <p:sp>
        <p:nvSpPr>
          <p:cNvPr id="4" name="Freeform 4"/>
          <p:cNvSpPr/>
          <p:nvPr/>
        </p:nvSpPr>
        <p:spPr>
          <a:xfrm>
            <a:off x="9144000" y="4784223"/>
            <a:ext cx="7972132" cy="5099196"/>
          </a:xfrm>
          <a:custGeom>
            <a:avLst/>
            <a:gdLst/>
            <a:ahLst/>
            <a:cxnLst/>
            <a:rect l="l" t="t" r="r" b="b"/>
            <a:pathLst>
              <a:path w="7972132" h="5099196">
                <a:moveTo>
                  <a:pt x="0" y="0"/>
                </a:moveTo>
                <a:lnTo>
                  <a:pt x="7972132" y="0"/>
                </a:lnTo>
                <a:lnTo>
                  <a:pt x="7972132" y="5099196"/>
                </a:lnTo>
                <a:lnTo>
                  <a:pt x="0" y="5099196"/>
                </a:lnTo>
                <a:lnTo>
                  <a:pt x="0" y="0"/>
                </a:lnTo>
                <a:close/>
              </a:path>
            </a:pathLst>
          </a:custGeom>
          <a:blipFill>
            <a:blip r:embed="rId5"/>
            <a:stretch>
              <a:fillRect/>
            </a:stretch>
          </a:blipFill>
        </p:spPr>
        <p:txBody>
          <a:bodyPr/>
          <a:lstStyle/>
          <a:p>
            <a:endParaRPr lang="en-GB"/>
          </a:p>
        </p:txBody>
      </p:sp>
      <p:graphicFrame>
        <p:nvGraphicFramePr>
          <p:cNvPr id="5" name="Object 5"/>
          <p:cNvGraphicFramePr/>
          <p:nvPr>
            <p:extLst>
              <p:ext uri="{D42A27DB-BD31-4B8C-83A1-F6EECF244321}">
                <p14:modId xmlns:p14="http://schemas.microsoft.com/office/powerpoint/2010/main" val="3471617151"/>
              </p:ext>
            </p:extLst>
          </p:nvPr>
        </p:nvGraphicFramePr>
        <p:xfrm>
          <a:off x="681844" y="4784223"/>
          <a:ext cx="5642756" cy="5029200"/>
        </p:xfrm>
        <a:graphic>
          <a:graphicData uri="http://schemas.openxmlformats.org/presentationml/2006/ole">
            <mc:AlternateContent xmlns:mc="http://schemas.openxmlformats.org/markup-compatibility/2006">
              <mc:Choice xmlns:v="urn:schemas-microsoft-com:vml" Requires="v">
                <p:oleObj name="Worksheet" r:id="rId6" imgW="6781800" imgH="6159500" progId="Excel.Sheet.12">
                  <p:embed/>
                </p:oleObj>
              </mc:Choice>
              <mc:Fallback>
                <p:oleObj name="Worksheet" r:id="rId6" imgW="6781800" imgH="6159500" progId="Excel.Sheet.12">
                  <p:embed/>
                  <p:pic>
                    <p:nvPicPr>
                      <p:cNvPr id="0" name=""/>
                      <p:cNvPicPr/>
                      <p:nvPr/>
                    </p:nvPicPr>
                    <p:blipFill>
                      <a:blip r:embed="rId7"/>
                      <a:stretch>
                        <a:fillRect/>
                      </a:stretch>
                    </p:blipFill>
                    <p:spPr>
                      <a:xfrm>
                        <a:off x="681844" y="4784223"/>
                        <a:ext cx="5642756" cy="5029200"/>
                      </a:xfrm>
                      <a:prstGeom prst="rect">
                        <a:avLst/>
                      </a:prstGeom>
                    </p:spPr>
                  </p:pic>
                </p:oleObj>
              </mc:Fallback>
            </mc:AlternateContent>
          </a:graphicData>
        </a:graphic>
      </p:graphicFrame>
      <p:sp>
        <p:nvSpPr>
          <p:cNvPr id="6" name="TextBox 6"/>
          <p:cNvSpPr txBox="1"/>
          <p:nvPr/>
        </p:nvSpPr>
        <p:spPr>
          <a:xfrm>
            <a:off x="398215" y="8048269"/>
            <a:ext cx="7319561" cy="1835150"/>
          </a:xfrm>
          <a:prstGeom prst="rect">
            <a:avLst/>
          </a:prstGeom>
        </p:spPr>
        <p:txBody>
          <a:bodyPr lIns="0" tIns="0" rIns="0" bIns="0" rtlCol="0" anchor="t">
            <a:spAutoFit/>
          </a:bodyPr>
          <a:lstStyle/>
          <a:p>
            <a:pPr algn="l">
              <a:lnSpc>
                <a:spcPts val="7150"/>
              </a:lnSpc>
            </a:pPr>
            <a:r>
              <a:rPr lang="en-US" sz="6500" b="1">
                <a:solidFill>
                  <a:srgbClr val="FFFFFF"/>
                </a:solidFill>
                <a:latin typeface="Montserrat Bold"/>
                <a:ea typeface="Montserrat Bold"/>
                <a:cs typeface="Montserrat Bold"/>
                <a:sym typeface="Montserrat Bold"/>
              </a:rPr>
              <a:t>Churn &amp; Satisfaction</a:t>
            </a:r>
          </a:p>
        </p:txBody>
      </p:sp>
      <p:sp>
        <p:nvSpPr>
          <p:cNvPr id="7" name="TextBox 7"/>
          <p:cNvSpPr txBox="1"/>
          <p:nvPr/>
        </p:nvSpPr>
        <p:spPr>
          <a:xfrm>
            <a:off x="8826168" y="911427"/>
            <a:ext cx="8400025" cy="3202864"/>
          </a:xfrm>
          <a:prstGeom prst="rect">
            <a:avLst/>
          </a:prstGeom>
        </p:spPr>
        <p:txBody>
          <a:bodyPr lIns="0" tIns="0" rIns="0" bIns="0" rtlCol="0" anchor="t">
            <a:spAutoFit/>
          </a:bodyPr>
          <a:lstStyle/>
          <a:p>
            <a:pPr marL="436567" lvl="1" indent="-218283" algn="l">
              <a:lnSpc>
                <a:spcPts val="2830"/>
              </a:lnSpc>
              <a:buFont typeface="Arial"/>
              <a:buChar char="•"/>
            </a:pPr>
            <a:r>
              <a:rPr lang="en-US" sz="2022" dirty="0">
                <a:solidFill>
                  <a:srgbClr val="FFFFFF"/>
                </a:solidFill>
                <a:latin typeface="Inter"/>
                <a:ea typeface="Inter"/>
                <a:cs typeface="Inter"/>
                <a:sym typeface="Inter"/>
              </a:rPr>
              <a:t>Manchester branch – Highest Churn rate</a:t>
            </a:r>
          </a:p>
          <a:p>
            <a:pPr marL="436567" lvl="1" indent="-218283" algn="l">
              <a:lnSpc>
                <a:spcPts val="2830"/>
              </a:lnSpc>
              <a:buFont typeface="Arial"/>
              <a:buChar char="•"/>
            </a:pPr>
            <a:r>
              <a:rPr lang="en-US" sz="2022" dirty="0">
                <a:solidFill>
                  <a:srgbClr val="FFFFFF"/>
                </a:solidFill>
                <a:latin typeface="Inter"/>
                <a:ea typeface="Inter"/>
                <a:cs typeface="Inter"/>
                <a:sym typeface="Inter"/>
              </a:rPr>
              <a:t>Significant drop in satisfaction score for the Manchester branch</a:t>
            </a:r>
          </a:p>
          <a:p>
            <a:pPr marL="436567" lvl="1" indent="-218283" algn="l">
              <a:lnSpc>
                <a:spcPts val="2830"/>
              </a:lnSpc>
              <a:buFont typeface="Arial"/>
              <a:buChar char="•"/>
            </a:pPr>
            <a:r>
              <a:rPr lang="en-US" sz="2022" dirty="0">
                <a:solidFill>
                  <a:srgbClr val="FFFFFF"/>
                </a:solidFill>
                <a:latin typeface="Inter"/>
                <a:ea typeface="Inter"/>
                <a:cs typeface="Inter"/>
                <a:sym typeface="Inter"/>
              </a:rPr>
              <a:t> Also, a steep increase in the average churn rate compared to the other branches</a:t>
            </a:r>
          </a:p>
          <a:p>
            <a:pPr algn="l">
              <a:lnSpc>
                <a:spcPts val="2830"/>
              </a:lnSpc>
            </a:pPr>
            <a:endParaRPr lang="en-US" sz="2022" dirty="0">
              <a:solidFill>
                <a:srgbClr val="FFFFFF"/>
              </a:solidFill>
              <a:latin typeface="Inter"/>
              <a:ea typeface="Inter"/>
              <a:cs typeface="Inter"/>
              <a:sym typeface="Inter"/>
            </a:endParaRPr>
          </a:p>
          <a:p>
            <a:pPr marL="436567" lvl="1" indent="-218283" algn="l">
              <a:lnSpc>
                <a:spcPts val="2830"/>
              </a:lnSpc>
              <a:buFont typeface="Arial"/>
              <a:buChar char="•"/>
            </a:pPr>
            <a:r>
              <a:rPr lang="en-US" sz="2022" dirty="0">
                <a:solidFill>
                  <a:srgbClr val="FFFFFF"/>
                </a:solidFill>
                <a:latin typeface="Inter"/>
                <a:ea typeface="Inter"/>
                <a:cs typeface="Inter"/>
                <a:sym typeface="Inter"/>
              </a:rPr>
              <a:t>Edinburgh and Bristol have the highest average satisfaction scores and lower churn rates</a:t>
            </a:r>
          </a:p>
          <a:p>
            <a:pPr marL="436567" lvl="1" indent="-218283" algn="l">
              <a:lnSpc>
                <a:spcPts val="2830"/>
              </a:lnSpc>
              <a:buFont typeface="Arial"/>
              <a:buChar char="•"/>
            </a:pPr>
            <a:r>
              <a:rPr lang="en-US" sz="2022" dirty="0">
                <a:solidFill>
                  <a:srgbClr val="FFFFFF"/>
                </a:solidFill>
                <a:latin typeface="Inter"/>
                <a:ea typeface="Inter"/>
                <a:cs typeface="Inter"/>
                <a:sym typeface="Inter"/>
              </a:rPr>
              <a:t> suggesting they are delivering better service and retaining customers.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F33"/>
        </a:solidFill>
        <a:effectLst/>
      </p:bgPr>
    </p:bg>
    <p:spTree>
      <p:nvGrpSpPr>
        <p:cNvPr id="1" name=""/>
        <p:cNvGrpSpPr/>
        <p:nvPr/>
      </p:nvGrpSpPr>
      <p:grpSpPr>
        <a:xfrm>
          <a:off x="0" y="0"/>
          <a:ext cx="0" cy="0"/>
          <a:chOff x="0" y="0"/>
          <a:chExt cx="0" cy="0"/>
        </a:xfrm>
      </p:grpSpPr>
      <p:sp>
        <p:nvSpPr>
          <p:cNvPr id="2" name="Freeform 2"/>
          <p:cNvSpPr/>
          <p:nvPr/>
        </p:nvSpPr>
        <p:spPr>
          <a:xfrm>
            <a:off x="745959" y="689053"/>
            <a:ext cx="651990" cy="660243"/>
          </a:xfrm>
          <a:custGeom>
            <a:avLst/>
            <a:gdLst/>
            <a:ahLst/>
            <a:cxnLst/>
            <a:rect l="l" t="t" r="r" b="b"/>
            <a:pathLst>
              <a:path w="651990" h="660243">
                <a:moveTo>
                  <a:pt x="0" y="0"/>
                </a:moveTo>
                <a:lnTo>
                  <a:pt x="651990" y="0"/>
                </a:lnTo>
                <a:lnTo>
                  <a:pt x="651990" y="660244"/>
                </a:lnTo>
                <a:lnTo>
                  <a:pt x="0" y="6602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AutoShape 3"/>
          <p:cNvSpPr/>
          <p:nvPr/>
        </p:nvSpPr>
        <p:spPr>
          <a:xfrm flipV="1">
            <a:off x="17604958" y="-822728"/>
            <a:ext cx="0" cy="10373558"/>
          </a:xfrm>
          <a:prstGeom prst="line">
            <a:avLst/>
          </a:prstGeom>
          <a:ln w="38100" cap="flat">
            <a:solidFill>
              <a:srgbClr val="FFFFFF"/>
            </a:solidFill>
            <a:prstDash val="solid"/>
            <a:headEnd type="none" w="sm" len="sm"/>
            <a:tailEnd type="none" w="sm" len="sm"/>
          </a:ln>
        </p:spPr>
        <p:txBody>
          <a:bodyPr/>
          <a:lstStyle/>
          <a:p>
            <a:endParaRPr lang="en-GB"/>
          </a:p>
        </p:txBody>
      </p:sp>
      <p:grpSp>
        <p:nvGrpSpPr>
          <p:cNvPr id="4" name="Group 4"/>
          <p:cNvGrpSpPr/>
          <p:nvPr/>
        </p:nvGrpSpPr>
        <p:grpSpPr>
          <a:xfrm>
            <a:off x="17348258" y="9294129"/>
            <a:ext cx="513401" cy="51340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3C31"/>
            </a:solidFill>
          </p:spPr>
          <p:txBody>
            <a:bodyPr/>
            <a:lstStyle/>
            <a:p>
              <a:endParaRPr lang="en-GB"/>
            </a:p>
          </p:txBody>
        </p:sp>
        <p:sp>
          <p:nvSpPr>
            <p:cNvPr id="6" name="TextBox 6"/>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sp>
        <p:nvSpPr>
          <p:cNvPr id="7" name="Freeform 7"/>
          <p:cNvSpPr/>
          <p:nvPr/>
        </p:nvSpPr>
        <p:spPr>
          <a:xfrm>
            <a:off x="745959" y="9065330"/>
            <a:ext cx="1885436" cy="485500"/>
          </a:xfrm>
          <a:custGeom>
            <a:avLst/>
            <a:gdLst/>
            <a:ahLst/>
            <a:cxnLst/>
            <a:rect l="l" t="t" r="r" b="b"/>
            <a:pathLst>
              <a:path w="1885436" h="485500">
                <a:moveTo>
                  <a:pt x="0" y="0"/>
                </a:moveTo>
                <a:lnTo>
                  <a:pt x="1885437" y="0"/>
                </a:lnTo>
                <a:lnTo>
                  <a:pt x="1885437" y="485500"/>
                </a:lnTo>
                <a:lnTo>
                  <a:pt x="0" y="485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8" name="Freeform 8"/>
          <p:cNvSpPr/>
          <p:nvPr/>
        </p:nvSpPr>
        <p:spPr>
          <a:xfrm>
            <a:off x="15123258" y="8945155"/>
            <a:ext cx="1062322" cy="240350"/>
          </a:xfrm>
          <a:custGeom>
            <a:avLst/>
            <a:gdLst/>
            <a:ahLst/>
            <a:cxnLst/>
            <a:rect l="l" t="t" r="r" b="b"/>
            <a:pathLst>
              <a:path w="1062322" h="240350">
                <a:moveTo>
                  <a:pt x="0" y="0"/>
                </a:moveTo>
                <a:lnTo>
                  <a:pt x="1062321" y="0"/>
                </a:lnTo>
                <a:lnTo>
                  <a:pt x="1062321" y="240350"/>
                </a:lnTo>
                <a:lnTo>
                  <a:pt x="0" y="2403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AutoShape 9"/>
          <p:cNvSpPr/>
          <p:nvPr/>
        </p:nvSpPr>
        <p:spPr>
          <a:xfrm flipV="1">
            <a:off x="9828946" y="2536764"/>
            <a:ext cx="0" cy="4992033"/>
          </a:xfrm>
          <a:prstGeom prst="line">
            <a:avLst/>
          </a:prstGeom>
          <a:ln w="38100" cap="flat">
            <a:solidFill>
              <a:srgbClr val="FFFFFF"/>
            </a:solidFill>
            <a:prstDash val="sysDash"/>
            <a:headEnd type="none" w="sm" len="sm"/>
            <a:tailEnd type="none" w="sm" len="sm"/>
          </a:ln>
        </p:spPr>
        <p:txBody>
          <a:bodyPr/>
          <a:lstStyle/>
          <a:p>
            <a:endParaRPr lang="en-GB"/>
          </a:p>
        </p:txBody>
      </p:sp>
      <p:sp>
        <p:nvSpPr>
          <p:cNvPr id="10" name="Freeform 10"/>
          <p:cNvSpPr/>
          <p:nvPr/>
        </p:nvSpPr>
        <p:spPr>
          <a:xfrm>
            <a:off x="7078202" y="5143500"/>
            <a:ext cx="2255443" cy="2255443"/>
          </a:xfrm>
          <a:custGeom>
            <a:avLst/>
            <a:gdLst/>
            <a:ahLst/>
            <a:cxnLst/>
            <a:rect l="l" t="t" r="r" b="b"/>
            <a:pathLst>
              <a:path w="2255443" h="2255443">
                <a:moveTo>
                  <a:pt x="0" y="0"/>
                </a:moveTo>
                <a:lnTo>
                  <a:pt x="2255444" y="0"/>
                </a:lnTo>
                <a:lnTo>
                  <a:pt x="2255444" y="2255443"/>
                </a:lnTo>
                <a:lnTo>
                  <a:pt x="0" y="22554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1" name="Freeform 11"/>
          <p:cNvSpPr/>
          <p:nvPr/>
        </p:nvSpPr>
        <p:spPr>
          <a:xfrm>
            <a:off x="15005988" y="192578"/>
            <a:ext cx="1731918" cy="1653194"/>
          </a:xfrm>
          <a:custGeom>
            <a:avLst/>
            <a:gdLst/>
            <a:ahLst/>
            <a:cxnLst/>
            <a:rect l="l" t="t" r="r" b="b"/>
            <a:pathLst>
              <a:path w="1731918" h="1653194">
                <a:moveTo>
                  <a:pt x="0" y="0"/>
                </a:moveTo>
                <a:lnTo>
                  <a:pt x="1731918" y="0"/>
                </a:lnTo>
                <a:lnTo>
                  <a:pt x="1731918" y="1653194"/>
                </a:lnTo>
                <a:lnTo>
                  <a:pt x="0" y="16531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2" name="TextBox 12"/>
          <p:cNvSpPr txBox="1"/>
          <p:nvPr/>
        </p:nvSpPr>
        <p:spPr>
          <a:xfrm>
            <a:off x="4604279" y="518118"/>
            <a:ext cx="9934984" cy="859172"/>
          </a:xfrm>
          <a:prstGeom prst="rect">
            <a:avLst/>
          </a:prstGeom>
        </p:spPr>
        <p:txBody>
          <a:bodyPr lIns="0" tIns="0" rIns="0" bIns="0" rtlCol="0" anchor="t">
            <a:spAutoFit/>
          </a:bodyPr>
          <a:lstStyle/>
          <a:p>
            <a:pPr algn="l">
              <a:lnSpc>
                <a:spcPts val="6566"/>
              </a:lnSpc>
            </a:pPr>
            <a:r>
              <a:rPr lang="en-US" sz="5969" b="1">
                <a:solidFill>
                  <a:srgbClr val="FFFFFF"/>
                </a:solidFill>
                <a:latin typeface="Montserrat Bold"/>
                <a:ea typeface="Montserrat Bold"/>
                <a:cs typeface="Montserrat Bold"/>
                <a:sym typeface="Montserrat Bold"/>
              </a:rPr>
              <a:t> Data Quality Findings</a:t>
            </a:r>
          </a:p>
        </p:txBody>
      </p:sp>
      <p:sp>
        <p:nvSpPr>
          <p:cNvPr id="13" name="TextBox 13"/>
          <p:cNvSpPr txBox="1"/>
          <p:nvPr/>
        </p:nvSpPr>
        <p:spPr>
          <a:xfrm>
            <a:off x="1549206" y="800209"/>
            <a:ext cx="2586193" cy="390308"/>
          </a:xfrm>
          <a:prstGeom prst="rect">
            <a:avLst/>
          </a:prstGeom>
        </p:spPr>
        <p:txBody>
          <a:bodyPr lIns="0" tIns="0" rIns="0" bIns="0" rtlCol="0" anchor="t">
            <a:spAutoFit/>
          </a:bodyPr>
          <a:lstStyle/>
          <a:p>
            <a:pPr algn="l">
              <a:lnSpc>
                <a:spcPts val="3161"/>
              </a:lnSpc>
            </a:pPr>
            <a:r>
              <a:rPr lang="en-US" sz="2258">
                <a:solidFill>
                  <a:srgbClr val="E6EAF1"/>
                </a:solidFill>
                <a:latin typeface="Inter"/>
                <a:ea typeface="Inter"/>
                <a:cs typeface="Inter"/>
                <a:sym typeface="Inter"/>
              </a:rPr>
              <a:t>NorthBridge Bank</a:t>
            </a:r>
          </a:p>
        </p:txBody>
      </p:sp>
      <p:sp>
        <p:nvSpPr>
          <p:cNvPr id="14" name="TextBox 14"/>
          <p:cNvSpPr txBox="1"/>
          <p:nvPr/>
        </p:nvSpPr>
        <p:spPr>
          <a:xfrm>
            <a:off x="437493" y="2555814"/>
            <a:ext cx="9182844" cy="807913"/>
          </a:xfrm>
          <a:prstGeom prst="rect">
            <a:avLst/>
          </a:prstGeom>
        </p:spPr>
        <p:txBody>
          <a:bodyPr lIns="0" tIns="0" rIns="0" bIns="0" rtlCol="0" anchor="t">
            <a:spAutoFit/>
          </a:bodyPr>
          <a:lstStyle/>
          <a:p>
            <a:pPr algn="just">
              <a:lnSpc>
                <a:spcPts val="2090"/>
              </a:lnSpc>
              <a:spcBef>
                <a:spcPct val="0"/>
              </a:spcBef>
            </a:pPr>
            <a:r>
              <a:rPr lang="en-US" sz="1900" dirty="0">
                <a:solidFill>
                  <a:srgbClr val="FFFFFF"/>
                </a:solidFill>
                <a:latin typeface="Inter" panose="020B0604020202020204" charset="0"/>
                <a:ea typeface="Inter" panose="020B0604020202020204" charset="0"/>
                <a:cs typeface="Montserrat"/>
                <a:sym typeface="Montserrat"/>
              </a:rPr>
              <a:t>Key data quality issue: Several customers are missing satisfaction scores. This matters because satisfaction is strongly linked to churn, so missing values weaken our ability to understand why customers leave. </a:t>
            </a:r>
          </a:p>
        </p:txBody>
      </p:sp>
      <p:sp>
        <p:nvSpPr>
          <p:cNvPr id="15" name="TextBox 15"/>
          <p:cNvSpPr txBox="1"/>
          <p:nvPr/>
        </p:nvSpPr>
        <p:spPr>
          <a:xfrm>
            <a:off x="486059" y="4250373"/>
            <a:ext cx="9085712" cy="1615827"/>
          </a:xfrm>
          <a:prstGeom prst="rect">
            <a:avLst/>
          </a:prstGeom>
        </p:spPr>
        <p:txBody>
          <a:bodyPr lIns="0" tIns="0" rIns="0" bIns="0" rtlCol="0" anchor="t">
            <a:spAutoFit/>
          </a:bodyPr>
          <a:lstStyle/>
          <a:p>
            <a:pPr algn="l">
              <a:lnSpc>
                <a:spcPts val="2089"/>
              </a:lnSpc>
              <a:spcBef>
                <a:spcPct val="0"/>
              </a:spcBef>
            </a:pPr>
            <a:r>
              <a:rPr lang="en-US" sz="1899" dirty="0">
                <a:solidFill>
                  <a:srgbClr val="FFFFFF"/>
                </a:solidFill>
                <a:latin typeface="Inter" panose="020B0604020202020204" charset="0"/>
                <a:ea typeface="Inter" panose="020B0604020202020204" charset="0"/>
                <a:cs typeface="Montserrat"/>
                <a:sym typeface="Montserrat"/>
              </a:rPr>
              <a:t>Key Issue Identified: Missing Satisfaction Scores, for example:</a:t>
            </a:r>
          </a:p>
          <a:p>
            <a:pPr algn="l">
              <a:lnSpc>
                <a:spcPts val="2089"/>
              </a:lnSpc>
              <a:spcBef>
                <a:spcPct val="0"/>
              </a:spcBef>
            </a:pPr>
            <a:endParaRPr lang="en-US" sz="1899" dirty="0">
              <a:solidFill>
                <a:srgbClr val="FFFFFF"/>
              </a:solidFill>
              <a:latin typeface="Inter" panose="020B0604020202020204" charset="0"/>
              <a:ea typeface="Inter" panose="020B0604020202020204" charset="0"/>
              <a:cs typeface="Montserrat"/>
              <a:sym typeface="Montserrat"/>
            </a:endParaRPr>
          </a:p>
          <a:p>
            <a:pPr marL="410209" lvl="1" indent="-205105" algn="l">
              <a:lnSpc>
                <a:spcPts val="2089"/>
              </a:lnSpc>
              <a:buFont typeface="Arial"/>
              <a:buChar char="•"/>
            </a:pPr>
            <a:r>
              <a:rPr lang="en-US" sz="1899" dirty="0">
                <a:solidFill>
                  <a:srgbClr val="FFFFFF"/>
                </a:solidFill>
                <a:latin typeface="Inter" panose="020B0604020202020204" charset="0"/>
                <a:ea typeface="Inter" panose="020B0604020202020204" charset="0"/>
                <a:cs typeface="Montserrat"/>
                <a:sym typeface="Montserrat"/>
              </a:rPr>
              <a:t>CUST00025</a:t>
            </a:r>
          </a:p>
          <a:p>
            <a:pPr marL="410209" lvl="1" indent="-205105" algn="l">
              <a:lnSpc>
                <a:spcPts val="2089"/>
              </a:lnSpc>
              <a:buFont typeface="Arial"/>
              <a:buChar char="•"/>
            </a:pPr>
            <a:r>
              <a:rPr lang="en-US" sz="1899" dirty="0">
                <a:solidFill>
                  <a:srgbClr val="FFFFFF"/>
                </a:solidFill>
                <a:latin typeface="Inter" panose="020B0604020202020204" charset="0"/>
                <a:ea typeface="Inter" panose="020B0604020202020204" charset="0"/>
                <a:cs typeface="Montserrat"/>
                <a:sym typeface="Montserrat"/>
              </a:rPr>
              <a:t>CUST00049</a:t>
            </a:r>
          </a:p>
          <a:p>
            <a:pPr marL="410209" lvl="1" indent="-205105" algn="l">
              <a:lnSpc>
                <a:spcPts val="2089"/>
              </a:lnSpc>
              <a:buFont typeface="Arial"/>
              <a:buChar char="•"/>
            </a:pPr>
            <a:r>
              <a:rPr lang="en-US" sz="1899" dirty="0">
                <a:solidFill>
                  <a:srgbClr val="FFFFFF"/>
                </a:solidFill>
                <a:latin typeface="Inter" panose="020B0604020202020204" charset="0"/>
                <a:ea typeface="Inter" panose="020B0604020202020204" charset="0"/>
                <a:cs typeface="Montserrat"/>
                <a:sym typeface="Montserrat"/>
              </a:rPr>
              <a:t>CUST00152</a:t>
            </a:r>
          </a:p>
          <a:p>
            <a:pPr marL="410209" lvl="1" indent="-205105" algn="l">
              <a:lnSpc>
                <a:spcPts val="2089"/>
              </a:lnSpc>
              <a:buFont typeface="Arial"/>
              <a:buChar char="•"/>
            </a:pPr>
            <a:r>
              <a:rPr lang="en-US" sz="1899" dirty="0">
                <a:solidFill>
                  <a:srgbClr val="FFFFFF"/>
                </a:solidFill>
                <a:latin typeface="Inter" panose="020B0604020202020204" charset="0"/>
                <a:ea typeface="Inter" panose="020B0604020202020204" charset="0"/>
                <a:cs typeface="Montserrat"/>
                <a:sym typeface="Montserrat"/>
              </a:rPr>
              <a:t>CUST00226 </a:t>
            </a:r>
          </a:p>
        </p:txBody>
      </p:sp>
      <p:sp>
        <p:nvSpPr>
          <p:cNvPr id="16" name="TextBox 16"/>
          <p:cNvSpPr txBox="1"/>
          <p:nvPr/>
        </p:nvSpPr>
        <p:spPr>
          <a:xfrm>
            <a:off x="10324246" y="2335929"/>
            <a:ext cx="6702716" cy="5924699"/>
          </a:xfrm>
          <a:prstGeom prst="rect">
            <a:avLst/>
          </a:prstGeom>
        </p:spPr>
        <p:txBody>
          <a:bodyPr lIns="0" tIns="0" rIns="0" bIns="0" rtlCol="0" anchor="t">
            <a:spAutoFit/>
          </a:bodyPr>
          <a:lstStyle/>
          <a:p>
            <a:pPr algn="ctr">
              <a:lnSpc>
                <a:spcPts val="2237"/>
              </a:lnSpc>
              <a:spcBef>
                <a:spcPct val="0"/>
              </a:spcBef>
            </a:pPr>
            <a:r>
              <a:rPr lang="en-US" sz="1900" b="1" dirty="0">
                <a:solidFill>
                  <a:srgbClr val="FFFFFF"/>
                </a:solidFill>
                <a:latin typeface="Inter" panose="020B0604020202020204" charset="0"/>
                <a:ea typeface="Inter" panose="020B0604020202020204" charset="0"/>
                <a:cs typeface="Montserrat Bold"/>
                <a:sym typeface="Montserrat Bold"/>
              </a:rPr>
              <a:t>Why This Matters?</a:t>
            </a:r>
          </a:p>
          <a:p>
            <a:pPr algn="ctr">
              <a:lnSpc>
                <a:spcPts val="2237"/>
              </a:lnSpc>
              <a:spcBef>
                <a:spcPct val="0"/>
              </a:spcBef>
            </a:pPr>
            <a:endParaRPr lang="en-US" sz="1900" b="1" dirty="0">
              <a:solidFill>
                <a:srgbClr val="FFFFFF"/>
              </a:solidFill>
              <a:latin typeface="Inter" panose="020B0604020202020204" charset="0"/>
              <a:ea typeface="Inter" panose="020B0604020202020204" charset="0"/>
              <a:cs typeface="Montserrat Bold"/>
              <a:sym typeface="Montserrat Bold"/>
            </a:endParaRPr>
          </a:p>
          <a:p>
            <a:pPr algn="l">
              <a:lnSpc>
                <a:spcPts val="2237"/>
              </a:lnSpc>
              <a:spcBef>
                <a:spcPct val="0"/>
              </a:spcBef>
            </a:pPr>
            <a:r>
              <a:rPr lang="en-US" sz="1900" dirty="0">
                <a:solidFill>
                  <a:srgbClr val="FFFFFF"/>
                </a:solidFill>
                <a:latin typeface="Inter" panose="020B0604020202020204" charset="0"/>
                <a:ea typeface="Inter" panose="020B0604020202020204" charset="0"/>
                <a:cs typeface="Montserrat"/>
                <a:sym typeface="Montserrat"/>
              </a:rPr>
              <a:t>1. Weakens churn analysis  </a:t>
            </a:r>
          </a:p>
          <a:p>
            <a:pPr algn="l">
              <a:lnSpc>
                <a:spcPts val="2237"/>
              </a:lnSpc>
            </a:pPr>
            <a:r>
              <a:rPr lang="en-US" sz="1900" dirty="0">
                <a:solidFill>
                  <a:srgbClr val="FFFFFF"/>
                </a:solidFill>
                <a:latin typeface="Inter" panose="020B0604020202020204" charset="0"/>
                <a:ea typeface="Inter" panose="020B0604020202020204" charset="0"/>
                <a:cs typeface="Montserrat"/>
                <a:sym typeface="Montserrat"/>
              </a:rPr>
              <a:t> Missing values make it harder to:</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Compare churned vs non‑churned customers</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Identify early warning signs</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Understand customer experience accurately</a:t>
            </a:r>
          </a:p>
          <a:p>
            <a:pPr algn="l">
              <a:lnSpc>
                <a:spcPts val="2237"/>
              </a:lnSpc>
              <a:spcBef>
                <a:spcPct val="0"/>
              </a:spcBef>
            </a:pPr>
            <a:endParaRPr lang="en-US" sz="1900" dirty="0">
              <a:solidFill>
                <a:srgbClr val="FFFFFF"/>
              </a:solidFill>
              <a:latin typeface="Inter" panose="020B0604020202020204" charset="0"/>
              <a:ea typeface="Inter" panose="020B0604020202020204" charset="0"/>
              <a:cs typeface="Montserrat"/>
              <a:sym typeface="Montserrat"/>
            </a:endParaRPr>
          </a:p>
          <a:p>
            <a:pPr algn="l">
              <a:lnSpc>
                <a:spcPts val="2237"/>
              </a:lnSpc>
              <a:spcBef>
                <a:spcPct val="0"/>
              </a:spcBef>
            </a:pPr>
            <a:r>
              <a:rPr lang="en-US" sz="1900" dirty="0">
                <a:solidFill>
                  <a:srgbClr val="FFFFFF"/>
                </a:solidFill>
                <a:latin typeface="Inter" panose="020B0604020202020204" charset="0"/>
                <a:ea typeface="Inter" panose="020B0604020202020204" charset="0"/>
                <a:cs typeface="Montserrat"/>
                <a:sym typeface="Montserrat"/>
              </a:rPr>
              <a:t>2. Reduces confidence in insights  </a:t>
            </a:r>
          </a:p>
          <a:p>
            <a:pPr algn="l">
              <a:lnSpc>
                <a:spcPts val="2237"/>
              </a:lnSpc>
            </a:pPr>
            <a:r>
              <a:rPr lang="en-US" sz="1900" dirty="0">
                <a:solidFill>
                  <a:srgbClr val="FFFFFF"/>
                </a:solidFill>
                <a:latin typeface="Inter" panose="020B0604020202020204" charset="0"/>
                <a:ea typeface="Inter" panose="020B0604020202020204" charset="0"/>
                <a:cs typeface="Montserrat"/>
                <a:sym typeface="Montserrat"/>
              </a:rPr>
              <a:t>The Head of Retail Banking needs reliable data for a board meeting.</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Missing satisfaction scores mean:</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Averages may be </a:t>
            </a:r>
            <a:r>
              <a:rPr lang="en-US" sz="1900" b="1" dirty="0">
                <a:solidFill>
                  <a:srgbClr val="FFFFFF"/>
                </a:solidFill>
                <a:latin typeface="Inter" panose="020B0604020202020204" charset="0"/>
                <a:ea typeface="Inter" panose="020B0604020202020204" charset="0"/>
                <a:cs typeface="Montserrat Bold"/>
                <a:sym typeface="Montserrat Bold"/>
              </a:rPr>
              <a:t>biased</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Trends may be incomplete</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Recommendations may be less accurate</a:t>
            </a:r>
          </a:p>
          <a:p>
            <a:pPr algn="l">
              <a:lnSpc>
                <a:spcPts val="2237"/>
              </a:lnSpc>
              <a:spcBef>
                <a:spcPct val="0"/>
              </a:spcBef>
            </a:pPr>
            <a:endParaRPr lang="en-US" sz="1900" dirty="0">
              <a:solidFill>
                <a:srgbClr val="FFFFFF"/>
              </a:solidFill>
              <a:latin typeface="Inter" panose="020B0604020202020204" charset="0"/>
              <a:ea typeface="Inter" panose="020B0604020202020204" charset="0"/>
              <a:cs typeface="Montserrat"/>
              <a:sym typeface="Montserrat"/>
            </a:endParaRPr>
          </a:p>
          <a:p>
            <a:pPr algn="l">
              <a:lnSpc>
                <a:spcPts val="2237"/>
              </a:lnSpc>
              <a:spcBef>
                <a:spcPct val="0"/>
              </a:spcBef>
            </a:pPr>
            <a:r>
              <a:rPr lang="en-US" sz="1900" dirty="0">
                <a:solidFill>
                  <a:srgbClr val="FFFFFF"/>
                </a:solidFill>
                <a:latin typeface="Inter" panose="020B0604020202020204" charset="0"/>
                <a:ea typeface="Inter" panose="020B0604020202020204" charset="0"/>
                <a:cs typeface="Montserrat"/>
                <a:sym typeface="Montserrat"/>
              </a:rPr>
              <a:t>3. Indicates operational gaps  </a:t>
            </a:r>
          </a:p>
          <a:p>
            <a:pPr algn="l">
              <a:lnSpc>
                <a:spcPts val="2237"/>
              </a:lnSpc>
            </a:pPr>
            <a:r>
              <a:rPr lang="en-US" sz="1900" dirty="0">
                <a:solidFill>
                  <a:srgbClr val="FFFFFF"/>
                </a:solidFill>
                <a:latin typeface="Inter" panose="020B0604020202020204" charset="0"/>
                <a:ea typeface="Inter" panose="020B0604020202020204" charset="0"/>
                <a:cs typeface="Montserrat"/>
                <a:sym typeface="Montserrat"/>
              </a:rPr>
              <a:t>Missing customer feedback may point to:</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Surveys not completed</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Data not captured</a:t>
            </a:r>
          </a:p>
          <a:p>
            <a:pPr marL="439258" lvl="1" indent="-219629" algn="l">
              <a:lnSpc>
                <a:spcPts val="2237"/>
              </a:lnSpc>
              <a:buFont typeface="Arial"/>
              <a:buChar char="•"/>
            </a:pPr>
            <a:r>
              <a:rPr lang="en-US" sz="1900" dirty="0">
                <a:solidFill>
                  <a:srgbClr val="FFFFFF"/>
                </a:solidFill>
                <a:latin typeface="Inter" panose="020B0604020202020204" charset="0"/>
                <a:ea typeface="Inter" panose="020B0604020202020204" charset="0"/>
                <a:cs typeface="Montserrat"/>
                <a:sym typeface="Montserrat"/>
              </a:rPr>
              <a:t>Inconsistent processes across branches</a:t>
            </a:r>
          </a:p>
        </p:txBody>
      </p:sp>
      <p:sp>
        <p:nvSpPr>
          <p:cNvPr id="17" name="TextBox 17"/>
          <p:cNvSpPr txBox="1"/>
          <p:nvPr/>
        </p:nvSpPr>
        <p:spPr>
          <a:xfrm>
            <a:off x="437190" y="6635659"/>
            <a:ext cx="8334176" cy="1805325"/>
          </a:xfrm>
          <a:prstGeom prst="rect">
            <a:avLst/>
          </a:prstGeom>
        </p:spPr>
        <p:txBody>
          <a:bodyPr lIns="0" tIns="0" rIns="0" bIns="0" rtlCol="0" anchor="t">
            <a:spAutoFit/>
          </a:bodyPr>
          <a:lstStyle/>
          <a:p>
            <a:pPr algn="ctr">
              <a:lnSpc>
                <a:spcPts val="2091"/>
              </a:lnSpc>
              <a:spcBef>
                <a:spcPct val="0"/>
              </a:spcBef>
            </a:pPr>
            <a:r>
              <a:rPr lang="en-US" sz="1901" b="1" dirty="0">
                <a:solidFill>
                  <a:srgbClr val="FFFFFF"/>
                </a:solidFill>
                <a:latin typeface="Montserrat Bold"/>
                <a:ea typeface="Montserrat Bold"/>
                <a:cs typeface="Montserrat Bold"/>
                <a:sym typeface="Montserrat Bold"/>
              </a:rPr>
              <a:t>Missing Data Affects KPIs</a:t>
            </a:r>
          </a:p>
          <a:p>
            <a:pPr algn="ctr">
              <a:lnSpc>
                <a:spcPts val="2091"/>
              </a:lnSpc>
              <a:spcBef>
                <a:spcPct val="0"/>
              </a:spcBef>
            </a:pPr>
            <a:endParaRPr lang="en-US" sz="1901" b="1" dirty="0">
              <a:solidFill>
                <a:srgbClr val="FFFFFF"/>
              </a:solidFill>
              <a:latin typeface="Montserrat Bold"/>
              <a:ea typeface="Montserrat Bold"/>
              <a:cs typeface="Montserrat Bold"/>
              <a:sym typeface="Montserrat Bold"/>
            </a:endParaRPr>
          </a:p>
          <a:p>
            <a:pPr algn="l">
              <a:lnSpc>
                <a:spcPts val="2091"/>
              </a:lnSpc>
              <a:spcBef>
                <a:spcPct val="0"/>
              </a:spcBef>
            </a:pPr>
            <a:r>
              <a:rPr lang="en-US" sz="1901" dirty="0">
                <a:solidFill>
                  <a:srgbClr val="FFFFFF"/>
                </a:solidFill>
                <a:latin typeface="Montserrat"/>
                <a:ea typeface="Montserrat"/>
                <a:cs typeface="Montserrat"/>
                <a:sym typeface="Montserrat"/>
              </a:rPr>
              <a:t>Satisfaction is a key customer KPI.</a:t>
            </a:r>
          </a:p>
          <a:p>
            <a:pPr algn="l">
              <a:lnSpc>
                <a:spcPts val="2091"/>
              </a:lnSpc>
              <a:spcBef>
                <a:spcPct val="0"/>
              </a:spcBef>
            </a:pPr>
            <a:r>
              <a:rPr lang="en-US" sz="1901" dirty="0">
                <a:solidFill>
                  <a:srgbClr val="FFFFFF"/>
                </a:solidFill>
                <a:latin typeface="Montserrat"/>
                <a:ea typeface="Montserrat"/>
                <a:cs typeface="Montserrat"/>
                <a:sym typeface="Montserrat"/>
              </a:rPr>
              <a:t>Missing values mean:</a:t>
            </a:r>
          </a:p>
          <a:p>
            <a:pPr marL="410548" lvl="1" indent="-205274" algn="l">
              <a:lnSpc>
                <a:spcPts val="2091"/>
              </a:lnSpc>
              <a:buFont typeface="Arial"/>
              <a:buChar char="•"/>
            </a:pPr>
            <a:r>
              <a:rPr lang="en-US" sz="1901" dirty="0">
                <a:solidFill>
                  <a:srgbClr val="FFFFFF"/>
                </a:solidFill>
                <a:latin typeface="Montserrat"/>
                <a:ea typeface="Montserrat"/>
                <a:cs typeface="Montserrat"/>
                <a:sym typeface="Montserrat"/>
              </a:rPr>
              <a:t>Average satisfaction may be overestimated</a:t>
            </a:r>
          </a:p>
          <a:p>
            <a:pPr marL="410548" lvl="1" indent="-205274" algn="l">
              <a:lnSpc>
                <a:spcPts val="2091"/>
              </a:lnSpc>
              <a:buFont typeface="Arial"/>
              <a:buChar char="•"/>
            </a:pPr>
            <a:r>
              <a:rPr lang="en-US" sz="1901" dirty="0">
                <a:solidFill>
                  <a:srgbClr val="FFFFFF"/>
                </a:solidFill>
                <a:latin typeface="Montserrat"/>
                <a:ea typeface="Montserrat"/>
                <a:cs typeface="Montserrat"/>
                <a:sym typeface="Montserrat"/>
              </a:rPr>
              <a:t>Branch comparisons may be inaccurate</a:t>
            </a:r>
          </a:p>
          <a:p>
            <a:pPr marL="410548" lvl="1" indent="-205274" algn="l">
              <a:lnSpc>
                <a:spcPts val="2091"/>
              </a:lnSpc>
              <a:buFont typeface="Arial"/>
              <a:buChar char="•"/>
            </a:pPr>
            <a:r>
              <a:rPr lang="en-US" sz="1901" dirty="0">
                <a:solidFill>
                  <a:srgbClr val="FFFFFF"/>
                </a:solidFill>
                <a:latin typeface="Montserrat"/>
                <a:ea typeface="Montserrat"/>
                <a:cs typeface="Montserrat"/>
                <a:sym typeface="Montserrat"/>
              </a:rPr>
              <a:t>Customer experience decisions may be misguided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13C31"/>
        </a:solidFill>
        <a:effectLst/>
      </p:bgPr>
    </p:bg>
    <p:spTree>
      <p:nvGrpSpPr>
        <p:cNvPr id="1" name=""/>
        <p:cNvGrpSpPr/>
        <p:nvPr/>
      </p:nvGrpSpPr>
      <p:grpSpPr>
        <a:xfrm>
          <a:off x="0" y="0"/>
          <a:ext cx="0" cy="0"/>
          <a:chOff x="0" y="0"/>
          <a:chExt cx="0" cy="0"/>
        </a:xfrm>
      </p:grpSpPr>
      <p:grpSp>
        <p:nvGrpSpPr>
          <p:cNvPr id="2" name="Group 2"/>
          <p:cNvGrpSpPr/>
          <p:nvPr/>
        </p:nvGrpSpPr>
        <p:grpSpPr>
          <a:xfrm>
            <a:off x="7281204" y="3802473"/>
            <a:ext cx="3725591" cy="1209835"/>
            <a:chOff x="0" y="0"/>
            <a:chExt cx="1525237" cy="495300"/>
          </a:xfrm>
        </p:grpSpPr>
        <p:sp>
          <p:nvSpPr>
            <p:cNvPr id="3" name="Freeform 3"/>
            <p:cNvSpPr/>
            <p:nvPr/>
          </p:nvSpPr>
          <p:spPr>
            <a:xfrm>
              <a:off x="11590" y="0"/>
              <a:ext cx="1502056" cy="495300"/>
            </a:xfrm>
            <a:custGeom>
              <a:avLst/>
              <a:gdLst/>
              <a:ahLst/>
              <a:cxnLst/>
              <a:rect l="l" t="t" r="r" b="b"/>
              <a:pathLst>
                <a:path w="1502056" h="495300">
                  <a:moveTo>
                    <a:pt x="250612" y="0"/>
                  </a:moveTo>
                  <a:lnTo>
                    <a:pt x="1481632" y="0"/>
                  </a:lnTo>
                  <a:cubicBezTo>
                    <a:pt x="1488607" y="0"/>
                    <a:pt x="1495099" y="3559"/>
                    <a:pt x="1498851" y="9439"/>
                  </a:cubicBezTo>
                  <a:cubicBezTo>
                    <a:pt x="1502602" y="15320"/>
                    <a:pt x="1503093" y="22707"/>
                    <a:pt x="1500154" y="29033"/>
                  </a:cubicBezTo>
                  <a:lnTo>
                    <a:pt x="1296952" y="466267"/>
                  </a:lnTo>
                  <a:cubicBezTo>
                    <a:pt x="1288723" y="483974"/>
                    <a:pt x="1270970" y="495300"/>
                    <a:pt x="1251444" y="495300"/>
                  </a:cubicBezTo>
                  <a:lnTo>
                    <a:pt x="20425" y="495300"/>
                  </a:lnTo>
                  <a:cubicBezTo>
                    <a:pt x="13450" y="495300"/>
                    <a:pt x="6957" y="491741"/>
                    <a:pt x="3206" y="485861"/>
                  </a:cubicBezTo>
                  <a:cubicBezTo>
                    <a:pt x="-545" y="479980"/>
                    <a:pt x="-1037" y="472593"/>
                    <a:pt x="1903" y="466267"/>
                  </a:cubicBezTo>
                  <a:lnTo>
                    <a:pt x="205105" y="29033"/>
                  </a:lnTo>
                  <a:cubicBezTo>
                    <a:pt x="213334" y="11326"/>
                    <a:pt x="231087" y="0"/>
                    <a:pt x="250612" y="0"/>
                  </a:cubicBezTo>
                  <a:close/>
                </a:path>
              </a:pathLst>
            </a:custGeom>
            <a:solidFill>
              <a:srgbClr val="E6EAF1"/>
            </a:solidFill>
          </p:spPr>
          <p:txBody>
            <a:bodyPr/>
            <a:lstStyle/>
            <a:p>
              <a:endParaRPr lang="en-GB"/>
            </a:p>
          </p:txBody>
        </p:sp>
        <p:sp>
          <p:nvSpPr>
            <p:cNvPr id="4" name="TextBox 4"/>
            <p:cNvSpPr txBox="1"/>
            <p:nvPr/>
          </p:nvSpPr>
          <p:spPr>
            <a:xfrm>
              <a:off x="254000" y="28575"/>
              <a:ext cx="1017237" cy="466725"/>
            </a:xfrm>
            <a:prstGeom prst="rect">
              <a:avLst/>
            </a:prstGeom>
          </p:spPr>
          <p:txBody>
            <a:bodyPr lIns="50800" tIns="50800" rIns="50800" bIns="50800" rtlCol="0" anchor="ctr"/>
            <a:lstStyle/>
            <a:p>
              <a:pPr algn="ctr">
                <a:lnSpc>
                  <a:spcPts val="2750"/>
                </a:lnSpc>
              </a:pPr>
              <a:endParaRPr/>
            </a:p>
          </p:txBody>
        </p:sp>
      </p:grpSp>
      <p:grpSp>
        <p:nvGrpSpPr>
          <p:cNvPr id="5" name="Group 5"/>
          <p:cNvGrpSpPr/>
          <p:nvPr/>
        </p:nvGrpSpPr>
        <p:grpSpPr>
          <a:xfrm>
            <a:off x="7016965" y="6087754"/>
            <a:ext cx="3725591" cy="1209835"/>
            <a:chOff x="0" y="0"/>
            <a:chExt cx="1525237" cy="495300"/>
          </a:xfrm>
        </p:grpSpPr>
        <p:sp>
          <p:nvSpPr>
            <p:cNvPr id="6" name="Freeform 6"/>
            <p:cNvSpPr/>
            <p:nvPr/>
          </p:nvSpPr>
          <p:spPr>
            <a:xfrm>
              <a:off x="11590" y="0"/>
              <a:ext cx="1502056" cy="495300"/>
            </a:xfrm>
            <a:custGeom>
              <a:avLst/>
              <a:gdLst/>
              <a:ahLst/>
              <a:cxnLst/>
              <a:rect l="l" t="t" r="r" b="b"/>
              <a:pathLst>
                <a:path w="1502056" h="495300">
                  <a:moveTo>
                    <a:pt x="250612" y="0"/>
                  </a:moveTo>
                  <a:lnTo>
                    <a:pt x="1481632" y="0"/>
                  </a:lnTo>
                  <a:cubicBezTo>
                    <a:pt x="1488607" y="0"/>
                    <a:pt x="1495099" y="3559"/>
                    <a:pt x="1498851" y="9439"/>
                  </a:cubicBezTo>
                  <a:cubicBezTo>
                    <a:pt x="1502602" y="15320"/>
                    <a:pt x="1503093" y="22707"/>
                    <a:pt x="1500154" y="29033"/>
                  </a:cubicBezTo>
                  <a:lnTo>
                    <a:pt x="1296952" y="466267"/>
                  </a:lnTo>
                  <a:cubicBezTo>
                    <a:pt x="1288723" y="483974"/>
                    <a:pt x="1270970" y="495300"/>
                    <a:pt x="1251444" y="495300"/>
                  </a:cubicBezTo>
                  <a:lnTo>
                    <a:pt x="20425" y="495300"/>
                  </a:lnTo>
                  <a:cubicBezTo>
                    <a:pt x="13450" y="495300"/>
                    <a:pt x="6957" y="491741"/>
                    <a:pt x="3206" y="485861"/>
                  </a:cubicBezTo>
                  <a:cubicBezTo>
                    <a:pt x="-545" y="479980"/>
                    <a:pt x="-1037" y="472593"/>
                    <a:pt x="1903" y="466267"/>
                  </a:cubicBezTo>
                  <a:lnTo>
                    <a:pt x="205105" y="29033"/>
                  </a:lnTo>
                  <a:cubicBezTo>
                    <a:pt x="213334" y="11326"/>
                    <a:pt x="231087" y="0"/>
                    <a:pt x="250612" y="0"/>
                  </a:cubicBezTo>
                  <a:close/>
                </a:path>
              </a:pathLst>
            </a:custGeom>
            <a:solidFill>
              <a:srgbClr val="2B2F33"/>
            </a:solidFill>
          </p:spPr>
          <p:txBody>
            <a:bodyPr/>
            <a:lstStyle/>
            <a:p>
              <a:endParaRPr lang="en-GB"/>
            </a:p>
          </p:txBody>
        </p:sp>
        <p:sp>
          <p:nvSpPr>
            <p:cNvPr id="7" name="TextBox 7"/>
            <p:cNvSpPr txBox="1"/>
            <p:nvPr/>
          </p:nvSpPr>
          <p:spPr>
            <a:xfrm>
              <a:off x="254000" y="28575"/>
              <a:ext cx="1017237" cy="466725"/>
            </a:xfrm>
            <a:prstGeom prst="rect">
              <a:avLst/>
            </a:prstGeom>
          </p:spPr>
          <p:txBody>
            <a:bodyPr lIns="50800" tIns="50800" rIns="50800" bIns="50800" rtlCol="0" anchor="ctr"/>
            <a:lstStyle/>
            <a:p>
              <a:pPr algn="ctr">
                <a:lnSpc>
                  <a:spcPts val="2750"/>
                </a:lnSpc>
              </a:pPr>
              <a:endParaRPr/>
            </a:p>
          </p:txBody>
        </p:sp>
      </p:grpSp>
      <p:grpSp>
        <p:nvGrpSpPr>
          <p:cNvPr id="8" name="Group 8"/>
          <p:cNvGrpSpPr/>
          <p:nvPr/>
        </p:nvGrpSpPr>
        <p:grpSpPr>
          <a:xfrm>
            <a:off x="6872265" y="8386457"/>
            <a:ext cx="3725591" cy="1209835"/>
            <a:chOff x="0" y="0"/>
            <a:chExt cx="1525237" cy="495300"/>
          </a:xfrm>
        </p:grpSpPr>
        <p:sp>
          <p:nvSpPr>
            <p:cNvPr id="9" name="Freeform 9"/>
            <p:cNvSpPr/>
            <p:nvPr/>
          </p:nvSpPr>
          <p:spPr>
            <a:xfrm>
              <a:off x="11590" y="0"/>
              <a:ext cx="1502056" cy="495300"/>
            </a:xfrm>
            <a:custGeom>
              <a:avLst/>
              <a:gdLst/>
              <a:ahLst/>
              <a:cxnLst/>
              <a:rect l="l" t="t" r="r" b="b"/>
              <a:pathLst>
                <a:path w="1502056" h="495300">
                  <a:moveTo>
                    <a:pt x="250612" y="0"/>
                  </a:moveTo>
                  <a:lnTo>
                    <a:pt x="1481632" y="0"/>
                  </a:lnTo>
                  <a:cubicBezTo>
                    <a:pt x="1488607" y="0"/>
                    <a:pt x="1495099" y="3559"/>
                    <a:pt x="1498851" y="9439"/>
                  </a:cubicBezTo>
                  <a:cubicBezTo>
                    <a:pt x="1502602" y="15320"/>
                    <a:pt x="1503093" y="22707"/>
                    <a:pt x="1500154" y="29033"/>
                  </a:cubicBezTo>
                  <a:lnTo>
                    <a:pt x="1296952" y="466267"/>
                  </a:lnTo>
                  <a:cubicBezTo>
                    <a:pt x="1288723" y="483974"/>
                    <a:pt x="1270970" y="495300"/>
                    <a:pt x="1251444" y="495300"/>
                  </a:cubicBezTo>
                  <a:lnTo>
                    <a:pt x="20425" y="495300"/>
                  </a:lnTo>
                  <a:cubicBezTo>
                    <a:pt x="13450" y="495300"/>
                    <a:pt x="6957" y="491741"/>
                    <a:pt x="3206" y="485861"/>
                  </a:cubicBezTo>
                  <a:cubicBezTo>
                    <a:pt x="-545" y="479980"/>
                    <a:pt x="-1037" y="472593"/>
                    <a:pt x="1903" y="466267"/>
                  </a:cubicBezTo>
                  <a:lnTo>
                    <a:pt x="205105" y="29033"/>
                  </a:lnTo>
                  <a:cubicBezTo>
                    <a:pt x="213334" y="11326"/>
                    <a:pt x="231087" y="0"/>
                    <a:pt x="250612" y="0"/>
                  </a:cubicBezTo>
                  <a:close/>
                </a:path>
              </a:pathLst>
            </a:custGeom>
            <a:solidFill>
              <a:srgbClr val="DCDCDD"/>
            </a:solidFill>
          </p:spPr>
          <p:txBody>
            <a:bodyPr/>
            <a:lstStyle/>
            <a:p>
              <a:endParaRPr lang="en-GB"/>
            </a:p>
          </p:txBody>
        </p:sp>
        <p:sp>
          <p:nvSpPr>
            <p:cNvPr id="10" name="TextBox 10"/>
            <p:cNvSpPr txBox="1"/>
            <p:nvPr/>
          </p:nvSpPr>
          <p:spPr>
            <a:xfrm>
              <a:off x="254000" y="28575"/>
              <a:ext cx="1017237" cy="466725"/>
            </a:xfrm>
            <a:prstGeom prst="rect">
              <a:avLst/>
            </a:prstGeom>
          </p:spPr>
          <p:txBody>
            <a:bodyPr lIns="50800" tIns="50800" rIns="50800" bIns="50800" rtlCol="0" anchor="ctr"/>
            <a:lstStyle/>
            <a:p>
              <a:pPr algn="ctr">
                <a:lnSpc>
                  <a:spcPts val="2750"/>
                </a:lnSpc>
              </a:pPr>
              <a:endParaRPr/>
            </a:p>
          </p:txBody>
        </p:sp>
      </p:grpSp>
      <p:grpSp>
        <p:nvGrpSpPr>
          <p:cNvPr id="11" name="Group 11"/>
          <p:cNvGrpSpPr/>
          <p:nvPr/>
        </p:nvGrpSpPr>
        <p:grpSpPr>
          <a:xfrm>
            <a:off x="5577542" y="3558123"/>
            <a:ext cx="1132954" cy="113295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2820"/>
            </a:solidFill>
          </p:spPr>
          <p:txBody>
            <a:bodyPr/>
            <a:lstStyle/>
            <a:p>
              <a:endParaRPr lang="en-GB"/>
            </a:p>
          </p:txBody>
        </p:sp>
        <p:sp>
          <p:nvSpPr>
            <p:cNvPr id="13" name="TextBox 13"/>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grpSp>
        <p:nvGrpSpPr>
          <p:cNvPr id="14" name="Group 14"/>
          <p:cNvGrpSpPr/>
          <p:nvPr/>
        </p:nvGrpSpPr>
        <p:grpSpPr>
          <a:xfrm>
            <a:off x="5577542" y="5877736"/>
            <a:ext cx="1132954" cy="113295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2820"/>
            </a:solidFill>
          </p:spPr>
          <p:txBody>
            <a:bodyPr/>
            <a:lstStyle/>
            <a:p>
              <a:endParaRPr lang="en-GB"/>
            </a:p>
          </p:txBody>
        </p:sp>
        <p:sp>
          <p:nvSpPr>
            <p:cNvPr id="16" name="TextBox 16"/>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grpSp>
        <p:nvGrpSpPr>
          <p:cNvPr id="17" name="Group 17"/>
          <p:cNvGrpSpPr/>
          <p:nvPr/>
        </p:nvGrpSpPr>
        <p:grpSpPr>
          <a:xfrm>
            <a:off x="5577542" y="8556922"/>
            <a:ext cx="1132954" cy="113295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42820"/>
            </a:solidFill>
          </p:spPr>
          <p:txBody>
            <a:bodyPr/>
            <a:lstStyle/>
            <a:p>
              <a:endParaRPr lang="en-GB"/>
            </a:p>
          </p:txBody>
        </p:sp>
        <p:sp>
          <p:nvSpPr>
            <p:cNvPr id="19" name="TextBox 19"/>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sp>
        <p:nvSpPr>
          <p:cNvPr id="20" name="TextBox 20"/>
          <p:cNvSpPr txBox="1"/>
          <p:nvPr/>
        </p:nvSpPr>
        <p:spPr>
          <a:xfrm>
            <a:off x="4805601" y="1151473"/>
            <a:ext cx="9355282" cy="930275"/>
          </a:xfrm>
          <a:prstGeom prst="rect">
            <a:avLst/>
          </a:prstGeom>
        </p:spPr>
        <p:txBody>
          <a:bodyPr lIns="0" tIns="0" rIns="0" bIns="0" rtlCol="0" anchor="t">
            <a:spAutoFit/>
          </a:bodyPr>
          <a:lstStyle/>
          <a:p>
            <a:pPr algn="l">
              <a:lnSpc>
                <a:spcPts val="7150"/>
              </a:lnSpc>
            </a:pPr>
            <a:r>
              <a:rPr lang="en-US" sz="6500" b="1">
                <a:solidFill>
                  <a:srgbClr val="FFFFFF"/>
                </a:solidFill>
                <a:latin typeface="Montserrat Bold"/>
                <a:ea typeface="Montserrat Bold"/>
                <a:cs typeface="Montserrat Bold"/>
                <a:sym typeface="Montserrat Bold"/>
              </a:rPr>
              <a:t>Recommendations </a:t>
            </a:r>
          </a:p>
        </p:txBody>
      </p:sp>
      <p:sp>
        <p:nvSpPr>
          <p:cNvPr id="21" name="TextBox 21"/>
          <p:cNvSpPr txBox="1"/>
          <p:nvPr/>
        </p:nvSpPr>
        <p:spPr>
          <a:xfrm>
            <a:off x="8062024" y="4159865"/>
            <a:ext cx="1987341" cy="346075"/>
          </a:xfrm>
          <a:prstGeom prst="rect">
            <a:avLst/>
          </a:prstGeom>
        </p:spPr>
        <p:txBody>
          <a:bodyPr lIns="0" tIns="0" rIns="0" bIns="0" rtlCol="0" anchor="t">
            <a:spAutoFit/>
          </a:bodyPr>
          <a:lstStyle/>
          <a:p>
            <a:pPr algn="l">
              <a:lnSpc>
                <a:spcPts val="2750"/>
              </a:lnSpc>
            </a:pPr>
            <a:r>
              <a:rPr lang="en-US" sz="2500" b="1">
                <a:solidFill>
                  <a:srgbClr val="C13C31"/>
                </a:solidFill>
                <a:latin typeface="Montserrat Bold"/>
                <a:ea typeface="Montserrat Bold"/>
                <a:cs typeface="Montserrat Bold"/>
                <a:sym typeface="Montserrat Bold"/>
              </a:rPr>
              <a:t>Revenue</a:t>
            </a:r>
          </a:p>
        </p:txBody>
      </p:sp>
      <p:sp>
        <p:nvSpPr>
          <p:cNvPr id="22" name="TextBox 22"/>
          <p:cNvSpPr txBox="1"/>
          <p:nvPr/>
        </p:nvSpPr>
        <p:spPr>
          <a:xfrm>
            <a:off x="7886091" y="6362472"/>
            <a:ext cx="1987341" cy="688975"/>
          </a:xfrm>
          <a:prstGeom prst="rect">
            <a:avLst/>
          </a:prstGeom>
        </p:spPr>
        <p:txBody>
          <a:bodyPr lIns="0" tIns="0" rIns="0" bIns="0" rtlCol="0" anchor="t">
            <a:spAutoFit/>
          </a:bodyPr>
          <a:lstStyle/>
          <a:p>
            <a:pPr algn="ctr">
              <a:lnSpc>
                <a:spcPts val="2750"/>
              </a:lnSpc>
            </a:pPr>
            <a:r>
              <a:rPr lang="en-US" sz="2500" b="1">
                <a:solidFill>
                  <a:srgbClr val="FFFFFF"/>
                </a:solidFill>
                <a:latin typeface="Montserrat Bold"/>
                <a:ea typeface="Montserrat Bold"/>
                <a:cs typeface="Montserrat Bold"/>
                <a:sym typeface="Montserrat Bold"/>
              </a:rPr>
              <a:t>Satisfaction and Churn</a:t>
            </a:r>
          </a:p>
        </p:txBody>
      </p:sp>
      <p:sp>
        <p:nvSpPr>
          <p:cNvPr id="23" name="TextBox 23"/>
          <p:cNvSpPr txBox="1"/>
          <p:nvPr/>
        </p:nvSpPr>
        <p:spPr>
          <a:xfrm>
            <a:off x="7667657" y="8832624"/>
            <a:ext cx="2776075" cy="346075"/>
          </a:xfrm>
          <a:prstGeom prst="rect">
            <a:avLst/>
          </a:prstGeom>
        </p:spPr>
        <p:txBody>
          <a:bodyPr lIns="0" tIns="0" rIns="0" bIns="0" rtlCol="0" anchor="t">
            <a:spAutoFit/>
          </a:bodyPr>
          <a:lstStyle/>
          <a:p>
            <a:pPr algn="l">
              <a:lnSpc>
                <a:spcPts val="2750"/>
              </a:lnSpc>
            </a:pPr>
            <a:r>
              <a:rPr lang="en-US" sz="2500" b="1">
                <a:solidFill>
                  <a:srgbClr val="C13C31"/>
                </a:solidFill>
                <a:latin typeface="Montserrat Bold"/>
                <a:ea typeface="Montserrat Bold"/>
                <a:cs typeface="Montserrat Bold"/>
                <a:sym typeface="Montserrat Bold"/>
              </a:rPr>
              <a:t>Data Quality</a:t>
            </a:r>
          </a:p>
        </p:txBody>
      </p:sp>
      <p:sp>
        <p:nvSpPr>
          <p:cNvPr id="24" name="TextBox 24"/>
          <p:cNvSpPr txBox="1"/>
          <p:nvPr/>
        </p:nvSpPr>
        <p:spPr>
          <a:xfrm>
            <a:off x="11168721" y="3272011"/>
            <a:ext cx="6142350" cy="2223134"/>
          </a:xfrm>
          <a:prstGeom prst="rect">
            <a:avLst/>
          </a:prstGeom>
        </p:spPr>
        <p:txBody>
          <a:bodyPr lIns="0" tIns="0" rIns="0" bIns="0" rtlCol="0" anchor="t">
            <a:spAutoFit/>
          </a:bodyPr>
          <a:lstStyle/>
          <a:p>
            <a:pPr algn="l">
              <a:lnSpc>
                <a:spcPts val="2940"/>
              </a:lnSpc>
            </a:pPr>
            <a:endParaRPr dirty="0"/>
          </a:p>
          <a:p>
            <a:pPr marL="453396" lvl="1" indent="-226698" algn="l">
              <a:lnSpc>
                <a:spcPts val="2940"/>
              </a:lnSpc>
              <a:buFont typeface="Arial"/>
              <a:buChar char="•"/>
            </a:pPr>
            <a:r>
              <a:rPr lang="en-US" sz="2000" dirty="0">
                <a:solidFill>
                  <a:srgbClr val="FFFFFF"/>
                </a:solidFill>
                <a:latin typeface="Inter"/>
                <a:ea typeface="Inter"/>
                <a:cs typeface="Inter"/>
                <a:sym typeface="Inter"/>
              </a:rPr>
              <a:t>Increase revenue per customer in Edinburgh</a:t>
            </a:r>
          </a:p>
          <a:p>
            <a:pPr marL="453396" lvl="1" indent="-226698" algn="l">
              <a:lnSpc>
                <a:spcPts val="2940"/>
              </a:lnSpc>
              <a:buFont typeface="Arial"/>
              <a:buChar char="•"/>
            </a:pPr>
            <a:r>
              <a:rPr lang="en-US" sz="2000" dirty="0">
                <a:solidFill>
                  <a:srgbClr val="FFFFFF"/>
                </a:solidFill>
                <a:latin typeface="Inter"/>
                <a:ea typeface="Inter"/>
                <a:cs typeface="Inter"/>
                <a:sym typeface="Inter"/>
              </a:rPr>
              <a:t>cross-selling products: credit cards, loans, mortgages, and savings accounts to existing customers</a:t>
            </a:r>
          </a:p>
          <a:p>
            <a:pPr algn="l">
              <a:lnSpc>
                <a:spcPts val="2940"/>
              </a:lnSpc>
            </a:pPr>
            <a:endParaRPr lang="en-US" sz="2100" dirty="0">
              <a:solidFill>
                <a:srgbClr val="FFFFFF"/>
              </a:solidFill>
              <a:latin typeface="Inter"/>
              <a:ea typeface="Inter"/>
              <a:cs typeface="Inter"/>
              <a:sym typeface="Inter"/>
            </a:endParaRPr>
          </a:p>
        </p:txBody>
      </p:sp>
      <p:sp>
        <p:nvSpPr>
          <p:cNvPr id="25" name="TextBox 25"/>
          <p:cNvSpPr txBox="1"/>
          <p:nvPr/>
        </p:nvSpPr>
        <p:spPr>
          <a:xfrm>
            <a:off x="11168721" y="7958884"/>
            <a:ext cx="6930395" cy="2276457"/>
          </a:xfrm>
          <a:prstGeom prst="rect">
            <a:avLst/>
          </a:prstGeom>
        </p:spPr>
        <p:txBody>
          <a:bodyPr lIns="0" tIns="0" rIns="0" bIns="0" rtlCol="0" anchor="t">
            <a:spAutoFit/>
          </a:bodyPr>
          <a:lstStyle/>
          <a:p>
            <a:pPr marL="342900" indent="-342900" algn="l">
              <a:lnSpc>
                <a:spcPts val="2986"/>
              </a:lnSpc>
              <a:buFont typeface="Arial" panose="020B0604020202020204" pitchFamily="34" charset="0"/>
              <a:buChar char="•"/>
            </a:pPr>
            <a:r>
              <a:rPr lang="en-US" sz="2133" dirty="0">
                <a:solidFill>
                  <a:srgbClr val="FFFFFF"/>
                </a:solidFill>
                <a:latin typeface="Inter"/>
                <a:ea typeface="Inter"/>
                <a:cs typeface="Inter"/>
                <a:sym typeface="Inter"/>
              </a:rPr>
              <a:t>Make satisfaction scores a mandatory field and </a:t>
            </a:r>
            <a:r>
              <a:rPr lang="en-US" sz="2133" dirty="0" err="1">
                <a:solidFill>
                  <a:srgbClr val="FFFFFF"/>
                </a:solidFill>
                <a:latin typeface="Inter"/>
                <a:ea typeface="Inter"/>
                <a:cs typeface="Inter"/>
                <a:sym typeface="Inter"/>
              </a:rPr>
              <a:t>standardise</a:t>
            </a:r>
            <a:r>
              <a:rPr lang="en-US" sz="2133" dirty="0">
                <a:solidFill>
                  <a:srgbClr val="FFFFFF"/>
                </a:solidFill>
                <a:latin typeface="Inter"/>
                <a:ea typeface="Inter"/>
                <a:cs typeface="Inter"/>
                <a:sym typeface="Inter"/>
              </a:rPr>
              <a:t> feedback collection across all channels</a:t>
            </a:r>
          </a:p>
          <a:p>
            <a:pPr marL="342900" indent="-342900" algn="l">
              <a:lnSpc>
                <a:spcPts val="2986"/>
              </a:lnSpc>
              <a:buFont typeface="Arial" panose="020B0604020202020204" pitchFamily="34" charset="0"/>
              <a:buChar char="•"/>
            </a:pPr>
            <a:r>
              <a:rPr lang="en-US" sz="2133" dirty="0">
                <a:solidFill>
                  <a:srgbClr val="FFFFFF"/>
                </a:solidFill>
                <a:latin typeface="Inter"/>
                <a:ea typeface="Inter"/>
                <a:cs typeface="Inter"/>
                <a:sym typeface="Inter"/>
              </a:rPr>
              <a:t>Validation checks will prevent missing values in the future, and regular data quality reviews will ensure complete and reliable data</a:t>
            </a:r>
          </a:p>
        </p:txBody>
      </p:sp>
      <p:sp>
        <p:nvSpPr>
          <p:cNvPr id="26" name="TextBox 26"/>
          <p:cNvSpPr txBox="1"/>
          <p:nvPr/>
        </p:nvSpPr>
        <p:spPr>
          <a:xfrm>
            <a:off x="11168721" y="5817406"/>
            <a:ext cx="6358895" cy="1086003"/>
          </a:xfrm>
          <a:prstGeom prst="rect">
            <a:avLst/>
          </a:prstGeom>
        </p:spPr>
        <p:txBody>
          <a:bodyPr lIns="0" tIns="0" rIns="0" bIns="0" rtlCol="0" anchor="t">
            <a:spAutoFit/>
          </a:bodyPr>
          <a:lstStyle/>
          <a:p>
            <a:pPr marL="342900" indent="-342900" algn="l">
              <a:lnSpc>
                <a:spcPts val="2940"/>
              </a:lnSpc>
              <a:buFont typeface="Arial" panose="020B0604020202020204" pitchFamily="34" charset="0"/>
              <a:buChar char="•"/>
            </a:pPr>
            <a:r>
              <a:rPr lang="en-US" sz="2100" dirty="0">
                <a:solidFill>
                  <a:srgbClr val="FFFFFF"/>
                </a:solidFill>
                <a:latin typeface="Inter"/>
                <a:ea typeface="Inter"/>
                <a:cs typeface="Inter"/>
                <a:sym typeface="Inter"/>
              </a:rPr>
              <a:t>Manchester Branch - research how the services at the Edinburgh and Bristol branches operate</a:t>
            </a:r>
          </a:p>
        </p:txBody>
      </p:sp>
      <p:sp>
        <p:nvSpPr>
          <p:cNvPr id="27" name="TextBox 27"/>
          <p:cNvSpPr txBox="1"/>
          <p:nvPr/>
        </p:nvSpPr>
        <p:spPr>
          <a:xfrm>
            <a:off x="5783333" y="3758420"/>
            <a:ext cx="1745893" cy="648971"/>
          </a:xfrm>
          <a:prstGeom prst="rect">
            <a:avLst/>
          </a:prstGeom>
        </p:spPr>
        <p:txBody>
          <a:bodyPr lIns="0" tIns="0" rIns="0" bIns="0" rtlCol="0" anchor="t">
            <a:spAutoFit/>
          </a:bodyPr>
          <a:lstStyle/>
          <a:p>
            <a:pPr algn="l">
              <a:lnSpc>
                <a:spcPts val="5060"/>
              </a:lnSpc>
            </a:pPr>
            <a:r>
              <a:rPr lang="en-US" sz="4600" b="1">
                <a:solidFill>
                  <a:srgbClr val="FFFFFF"/>
                </a:solidFill>
                <a:latin typeface="Montserrat Bold"/>
                <a:ea typeface="Montserrat Bold"/>
                <a:cs typeface="Montserrat Bold"/>
                <a:sym typeface="Montserrat Bold"/>
              </a:rPr>
              <a:t>01.</a:t>
            </a:r>
          </a:p>
        </p:txBody>
      </p:sp>
      <p:sp>
        <p:nvSpPr>
          <p:cNvPr id="28" name="TextBox 28"/>
          <p:cNvSpPr txBox="1"/>
          <p:nvPr/>
        </p:nvSpPr>
        <p:spPr>
          <a:xfrm>
            <a:off x="5653373" y="6135379"/>
            <a:ext cx="1745893" cy="648971"/>
          </a:xfrm>
          <a:prstGeom prst="rect">
            <a:avLst/>
          </a:prstGeom>
        </p:spPr>
        <p:txBody>
          <a:bodyPr lIns="0" tIns="0" rIns="0" bIns="0" rtlCol="0" anchor="t">
            <a:spAutoFit/>
          </a:bodyPr>
          <a:lstStyle/>
          <a:p>
            <a:pPr algn="l">
              <a:lnSpc>
                <a:spcPts val="5060"/>
              </a:lnSpc>
            </a:pPr>
            <a:r>
              <a:rPr lang="en-US" sz="4600" b="1">
                <a:solidFill>
                  <a:srgbClr val="FFFFFF"/>
                </a:solidFill>
                <a:latin typeface="Montserrat Bold"/>
                <a:ea typeface="Montserrat Bold"/>
                <a:cs typeface="Montserrat Bold"/>
                <a:sym typeface="Montserrat Bold"/>
              </a:rPr>
              <a:t>02.</a:t>
            </a:r>
          </a:p>
        </p:txBody>
      </p:sp>
      <p:sp>
        <p:nvSpPr>
          <p:cNvPr id="29" name="TextBox 29"/>
          <p:cNvSpPr txBox="1"/>
          <p:nvPr/>
        </p:nvSpPr>
        <p:spPr>
          <a:xfrm>
            <a:off x="5653373" y="8822726"/>
            <a:ext cx="1745893" cy="648971"/>
          </a:xfrm>
          <a:prstGeom prst="rect">
            <a:avLst/>
          </a:prstGeom>
        </p:spPr>
        <p:txBody>
          <a:bodyPr lIns="0" tIns="0" rIns="0" bIns="0" rtlCol="0" anchor="t">
            <a:spAutoFit/>
          </a:bodyPr>
          <a:lstStyle/>
          <a:p>
            <a:pPr algn="l">
              <a:lnSpc>
                <a:spcPts val="5060"/>
              </a:lnSpc>
            </a:pPr>
            <a:r>
              <a:rPr lang="en-US" sz="4600" b="1">
                <a:solidFill>
                  <a:srgbClr val="FFFFFF"/>
                </a:solidFill>
                <a:latin typeface="Montserrat Bold"/>
                <a:ea typeface="Montserrat Bold"/>
                <a:cs typeface="Montserrat Bold"/>
                <a:sym typeface="Montserrat Bold"/>
              </a:rPr>
              <a:t>03.</a:t>
            </a:r>
          </a:p>
        </p:txBody>
      </p:sp>
      <p:sp>
        <p:nvSpPr>
          <p:cNvPr id="30" name="Freeform 30"/>
          <p:cNvSpPr/>
          <p:nvPr/>
        </p:nvSpPr>
        <p:spPr>
          <a:xfrm>
            <a:off x="745959" y="689053"/>
            <a:ext cx="651990" cy="660243"/>
          </a:xfrm>
          <a:custGeom>
            <a:avLst/>
            <a:gdLst/>
            <a:ahLst/>
            <a:cxnLst/>
            <a:rect l="l" t="t" r="r" b="b"/>
            <a:pathLst>
              <a:path w="651990" h="660243">
                <a:moveTo>
                  <a:pt x="0" y="0"/>
                </a:moveTo>
                <a:lnTo>
                  <a:pt x="651990" y="0"/>
                </a:lnTo>
                <a:lnTo>
                  <a:pt x="651990" y="660244"/>
                </a:lnTo>
                <a:lnTo>
                  <a:pt x="0" y="66024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dirty="0"/>
          </a:p>
        </p:txBody>
      </p:sp>
      <p:sp>
        <p:nvSpPr>
          <p:cNvPr id="31" name="AutoShape 31"/>
          <p:cNvSpPr/>
          <p:nvPr/>
        </p:nvSpPr>
        <p:spPr>
          <a:xfrm>
            <a:off x="5783333" y="5392857"/>
            <a:ext cx="9918447" cy="0"/>
          </a:xfrm>
          <a:prstGeom prst="line">
            <a:avLst/>
          </a:prstGeom>
          <a:ln w="38100" cap="flat">
            <a:solidFill>
              <a:srgbClr val="FFFFFF"/>
            </a:solidFill>
            <a:prstDash val="sysDash"/>
            <a:headEnd type="none" w="sm" len="sm"/>
            <a:tailEnd type="none" w="sm" len="sm"/>
          </a:ln>
        </p:spPr>
        <p:txBody>
          <a:bodyPr/>
          <a:lstStyle/>
          <a:p>
            <a:endParaRPr lang="en-GB"/>
          </a:p>
        </p:txBody>
      </p:sp>
      <p:sp>
        <p:nvSpPr>
          <p:cNvPr id="32" name="AutoShape 32"/>
          <p:cNvSpPr/>
          <p:nvPr/>
        </p:nvSpPr>
        <p:spPr>
          <a:xfrm>
            <a:off x="5577542" y="7783111"/>
            <a:ext cx="9918447" cy="0"/>
          </a:xfrm>
          <a:prstGeom prst="line">
            <a:avLst/>
          </a:prstGeom>
          <a:ln w="38100" cap="flat">
            <a:solidFill>
              <a:srgbClr val="FFFFFF"/>
            </a:solidFill>
            <a:prstDash val="sysDash"/>
            <a:headEnd type="none" w="sm" len="sm"/>
            <a:tailEnd type="none" w="sm" len="sm"/>
          </a:ln>
        </p:spPr>
        <p:txBody>
          <a:bodyPr/>
          <a:lstStyle/>
          <a:p>
            <a:endParaRPr lang="en-GB"/>
          </a:p>
        </p:txBody>
      </p:sp>
      <p:sp>
        <p:nvSpPr>
          <p:cNvPr id="33" name="Freeform 33"/>
          <p:cNvSpPr/>
          <p:nvPr/>
        </p:nvSpPr>
        <p:spPr>
          <a:xfrm>
            <a:off x="15340757" y="863797"/>
            <a:ext cx="1885436" cy="485500"/>
          </a:xfrm>
          <a:custGeom>
            <a:avLst/>
            <a:gdLst/>
            <a:ahLst/>
            <a:cxnLst/>
            <a:rect l="l" t="t" r="r" b="b"/>
            <a:pathLst>
              <a:path w="1885436" h="485500">
                <a:moveTo>
                  <a:pt x="0" y="0"/>
                </a:moveTo>
                <a:lnTo>
                  <a:pt x="1885436" y="0"/>
                </a:lnTo>
                <a:lnTo>
                  <a:pt x="1885436" y="485500"/>
                </a:lnTo>
                <a:lnTo>
                  <a:pt x="0" y="485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34" name="Freeform 34"/>
          <p:cNvSpPr/>
          <p:nvPr/>
        </p:nvSpPr>
        <p:spPr>
          <a:xfrm>
            <a:off x="1071954" y="8871199"/>
            <a:ext cx="1062322" cy="240350"/>
          </a:xfrm>
          <a:custGeom>
            <a:avLst/>
            <a:gdLst/>
            <a:ahLst/>
            <a:cxnLst/>
            <a:rect l="l" t="t" r="r" b="b"/>
            <a:pathLst>
              <a:path w="1062322" h="240350">
                <a:moveTo>
                  <a:pt x="0" y="0"/>
                </a:moveTo>
                <a:lnTo>
                  <a:pt x="1062322" y="0"/>
                </a:lnTo>
                <a:lnTo>
                  <a:pt x="1062322" y="240350"/>
                </a:lnTo>
                <a:lnTo>
                  <a:pt x="0" y="2403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grpSp>
        <p:nvGrpSpPr>
          <p:cNvPr id="35" name="Group 35"/>
          <p:cNvGrpSpPr/>
          <p:nvPr/>
        </p:nvGrpSpPr>
        <p:grpSpPr>
          <a:xfrm>
            <a:off x="-145696" y="1944104"/>
            <a:ext cx="6000129" cy="6326059"/>
            <a:chOff x="0" y="0"/>
            <a:chExt cx="812800" cy="812800"/>
          </a:xfrm>
        </p:grpSpPr>
        <p:sp>
          <p:nvSpPr>
            <p:cNvPr id="36" name="Freeform 36"/>
            <p:cNvSpPr/>
            <p:nvPr/>
          </p:nvSpPr>
          <p:spPr>
            <a:xfrm>
              <a:off x="27724" y="27724"/>
              <a:ext cx="757353" cy="757353"/>
            </a:xfrm>
            <a:custGeom>
              <a:avLst/>
              <a:gdLst/>
              <a:ahLst/>
              <a:cxnLst/>
              <a:rect l="l" t="t" r="r" b="b"/>
              <a:pathLst>
                <a:path w="757353" h="757353">
                  <a:moveTo>
                    <a:pt x="426003" y="19603"/>
                  </a:moveTo>
                  <a:lnTo>
                    <a:pt x="737749" y="331349"/>
                  </a:lnTo>
                  <a:cubicBezTo>
                    <a:pt x="750301" y="343901"/>
                    <a:pt x="757352" y="360925"/>
                    <a:pt x="757352" y="378676"/>
                  </a:cubicBezTo>
                  <a:cubicBezTo>
                    <a:pt x="757352" y="396427"/>
                    <a:pt x="750301" y="413451"/>
                    <a:pt x="737749" y="426003"/>
                  </a:cubicBezTo>
                  <a:lnTo>
                    <a:pt x="426003" y="737749"/>
                  </a:lnTo>
                  <a:cubicBezTo>
                    <a:pt x="413451" y="750301"/>
                    <a:pt x="396427" y="757352"/>
                    <a:pt x="378676" y="757352"/>
                  </a:cubicBezTo>
                  <a:cubicBezTo>
                    <a:pt x="360925" y="757352"/>
                    <a:pt x="343901" y="750301"/>
                    <a:pt x="331349" y="737749"/>
                  </a:cubicBezTo>
                  <a:lnTo>
                    <a:pt x="19603" y="426003"/>
                  </a:lnTo>
                  <a:cubicBezTo>
                    <a:pt x="7051" y="413451"/>
                    <a:pt x="0" y="396427"/>
                    <a:pt x="0" y="378676"/>
                  </a:cubicBezTo>
                  <a:cubicBezTo>
                    <a:pt x="0" y="360925"/>
                    <a:pt x="7051" y="343901"/>
                    <a:pt x="19603" y="331349"/>
                  </a:cubicBezTo>
                  <a:lnTo>
                    <a:pt x="331349" y="19603"/>
                  </a:lnTo>
                  <a:cubicBezTo>
                    <a:pt x="343901" y="7051"/>
                    <a:pt x="360925" y="0"/>
                    <a:pt x="378676" y="0"/>
                  </a:cubicBezTo>
                  <a:cubicBezTo>
                    <a:pt x="396427" y="0"/>
                    <a:pt x="413451" y="7051"/>
                    <a:pt x="426003" y="19603"/>
                  </a:cubicBezTo>
                  <a:close/>
                </a:path>
              </a:pathLst>
            </a:custGeom>
            <a:blipFill>
              <a:blip r:embed="rId6"/>
              <a:stretch>
                <a:fillRect l="-46073" t="-678" r="-46073" b="-678"/>
              </a:stretch>
            </a:blipFill>
          </p:spPr>
          <p:txBody>
            <a:bodyPr/>
            <a:lstStyle/>
            <a:p>
              <a:endParaRPr lang="en-GB"/>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GB"/>
          </a:p>
        </p:txBody>
      </p:sp>
      <p:grpSp>
        <p:nvGrpSpPr>
          <p:cNvPr id="3" name="Group 3"/>
          <p:cNvGrpSpPr/>
          <p:nvPr/>
        </p:nvGrpSpPr>
        <p:grpSpPr>
          <a:xfrm>
            <a:off x="4944011" y="4227319"/>
            <a:ext cx="8542600" cy="2811618"/>
            <a:chOff x="0" y="0"/>
            <a:chExt cx="2249903" cy="740508"/>
          </a:xfrm>
        </p:grpSpPr>
        <p:sp>
          <p:nvSpPr>
            <p:cNvPr id="4" name="Freeform 4"/>
            <p:cNvSpPr/>
            <p:nvPr/>
          </p:nvSpPr>
          <p:spPr>
            <a:xfrm>
              <a:off x="0" y="0"/>
              <a:ext cx="2249903" cy="740508"/>
            </a:xfrm>
            <a:custGeom>
              <a:avLst/>
              <a:gdLst/>
              <a:ahLst/>
              <a:cxnLst/>
              <a:rect l="l" t="t" r="r" b="b"/>
              <a:pathLst>
                <a:path w="2249903" h="740508">
                  <a:moveTo>
                    <a:pt x="29001" y="0"/>
                  </a:moveTo>
                  <a:lnTo>
                    <a:pt x="2220902" y="0"/>
                  </a:lnTo>
                  <a:cubicBezTo>
                    <a:pt x="2228594" y="0"/>
                    <a:pt x="2235970" y="3055"/>
                    <a:pt x="2241409" y="8494"/>
                  </a:cubicBezTo>
                  <a:cubicBezTo>
                    <a:pt x="2246848" y="13933"/>
                    <a:pt x="2249903" y="21309"/>
                    <a:pt x="2249903" y="29001"/>
                  </a:cubicBezTo>
                  <a:lnTo>
                    <a:pt x="2249903" y="711508"/>
                  </a:lnTo>
                  <a:cubicBezTo>
                    <a:pt x="2249903" y="719199"/>
                    <a:pt x="2246848" y="726576"/>
                    <a:pt x="2241409" y="732014"/>
                  </a:cubicBezTo>
                  <a:cubicBezTo>
                    <a:pt x="2235970" y="737453"/>
                    <a:pt x="2228594" y="740508"/>
                    <a:pt x="2220902" y="740508"/>
                  </a:cubicBezTo>
                  <a:lnTo>
                    <a:pt x="29001" y="740508"/>
                  </a:lnTo>
                  <a:cubicBezTo>
                    <a:pt x="21309" y="740508"/>
                    <a:pt x="13933" y="737453"/>
                    <a:pt x="8494" y="732014"/>
                  </a:cubicBezTo>
                  <a:cubicBezTo>
                    <a:pt x="3055" y="726576"/>
                    <a:pt x="0" y="719199"/>
                    <a:pt x="0" y="711508"/>
                  </a:cubicBezTo>
                  <a:lnTo>
                    <a:pt x="0" y="29001"/>
                  </a:lnTo>
                  <a:cubicBezTo>
                    <a:pt x="0" y="21309"/>
                    <a:pt x="3055" y="13933"/>
                    <a:pt x="8494" y="8494"/>
                  </a:cubicBezTo>
                  <a:cubicBezTo>
                    <a:pt x="13933" y="3055"/>
                    <a:pt x="21309" y="0"/>
                    <a:pt x="29001" y="0"/>
                  </a:cubicBezTo>
                  <a:close/>
                </a:path>
              </a:pathLst>
            </a:custGeom>
            <a:solidFill>
              <a:srgbClr val="2B2F33"/>
            </a:solidFill>
          </p:spPr>
          <p:txBody>
            <a:bodyPr/>
            <a:lstStyle/>
            <a:p>
              <a:endParaRPr lang="en-GB"/>
            </a:p>
          </p:txBody>
        </p:sp>
        <p:sp>
          <p:nvSpPr>
            <p:cNvPr id="5" name="TextBox 5"/>
            <p:cNvSpPr txBox="1"/>
            <p:nvPr/>
          </p:nvSpPr>
          <p:spPr>
            <a:xfrm>
              <a:off x="0" y="28575"/>
              <a:ext cx="2249903" cy="711933"/>
            </a:xfrm>
            <a:prstGeom prst="rect">
              <a:avLst/>
            </a:prstGeom>
          </p:spPr>
          <p:txBody>
            <a:bodyPr lIns="50800" tIns="50800" rIns="50800" bIns="50800" rtlCol="0" anchor="ctr"/>
            <a:lstStyle/>
            <a:p>
              <a:pPr algn="ctr">
                <a:lnSpc>
                  <a:spcPts val="2750"/>
                </a:lnSpc>
              </a:pPr>
              <a:endParaRPr/>
            </a:p>
          </p:txBody>
        </p:sp>
      </p:grpSp>
      <p:grpSp>
        <p:nvGrpSpPr>
          <p:cNvPr id="6" name="Group 6"/>
          <p:cNvGrpSpPr/>
          <p:nvPr/>
        </p:nvGrpSpPr>
        <p:grpSpPr>
          <a:xfrm>
            <a:off x="6659870" y="6925517"/>
            <a:ext cx="5110881" cy="827336"/>
            <a:chOff x="0" y="0"/>
            <a:chExt cx="1346076" cy="217899"/>
          </a:xfrm>
        </p:grpSpPr>
        <p:sp>
          <p:nvSpPr>
            <p:cNvPr id="7" name="Freeform 7"/>
            <p:cNvSpPr/>
            <p:nvPr/>
          </p:nvSpPr>
          <p:spPr>
            <a:xfrm>
              <a:off x="0" y="0"/>
              <a:ext cx="1346076" cy="217899"/>
            </a:xfrm>
            <a:custGeom>
              <a:avLst/>
              <a:gdLst/>
              <a:ahLst/>
              <a:cxnLst/>
              <a:rect l="l" t="t" r="r" b="b"/>
              <a:pathLst>
                <a:path w="1346076" h="217899">
                  <a:moveTo>
                    <a:pt x="77254" y="0"/>
                  </a:moveTo>
                  <a:lnTo>
                    <a:pt x="1268821" y="0"/>
                  </a:lnTo>
                  <a:cubicBezTo>
                    <a:pt x="1289310" y="0"/>
                    <a:pt x="1308960" y="8139"/>
                    <a:pt x="1323448" y="22627"/>
                  </a:cubicBezTo>
                  <a:cubicBezTo>
                    <a:pt x="1337936" y="37115"/>
                    <a:pt x="1346076" y="56765"/>
                    <a:pt x="1346076" y="77254"/>
                  </a:cubicBezTo>
                  <a:lnTo>
                    <a:pt x="1346076" y="140645"/>
                  </a:lnTo>
                  <a:cubicBezTo>
                    <a:pt x="1346076" y="183311"/>
                    <a:pt x="1311488" y="217899"/>
                    <a:pt x="1268821" y="217899"/>
                  </a:cubicBezTo>
                  <a:lnTo>
                    <a:pt x="77254" y="217899"/>
                  </a:lnTo>
                  <a:cubicBezTo>
                    <a:pt x="34588" y="217899"/>
                    <a:pt x="0" y="183311"/>
                    <a:pt x="0" y="140645"/>
                  </a:cubicBezTo>
                  <a:lnTo>
                    <a:pt x="0" y="77254"/>
                  </a:lnTo>
                  <a:cubicBezTo>
                    <a:pt x="0" y="34588"/>
                    <a:pt x="34588" y="0"/>
                    <a:pt x="77254" y="0"/>
                  </a:cubicBezTo>
                  <a:close/>
                </a:path>
              </a:pathLst>
            </a:custGeom>
            <a:solidFill>
              <a:srgbClr val="E2E6E7"/>
            </a:solidFill>
          </p:spPr>
          <p:txBody>
            <a:bodyPr/>
            <a:lstStyle/>
            <a:p>
              <a:endParaRPr lang="en-GB"/>
            </a:p>
          </p:txBody>
        </p:sp>
        <p:sp>
          <p:nvSpPr>
            <p:cNvPr id="8" name="TextBox 8"/>
            <p:cNvSpPr txBox="1"/>
            <p:nvPr/>
          </p:nvSpPr>
          <p:spPr>
            <a:xfrm>
              <a:off x="0" y="19050"/>
              <a:ext cx="1346076" cy="198849"/>
            </a:xfrm>
            <a:prstGeom prst="rect">
              <a:avLst/>
            </a:prstGeom>
          </p:spPr>
          <p:txBody>
            <a:bodyPr lIns="50800" tIns="50800" rIns="50800" bIns="50800" rtlCol="0" anchor="ctr"/>
            <a:lstStyle/>
            <a:p>
              <a:pPr algn="ctr">
                <a:lnSpc>
                  <a:spcPts val="2750"/>
                </a:lnSpc>
              </a:pPr>
              <a:endParaRPr/>
            </a:p>
          </p:txBody>
        </p:sp>
      </p:grpSp>
      <p:sp>
        <p:nvSpPr>
          <p:cNvPr id="9" name="Freeform 9"/>
          <p:cNvSpPr/>
          <p:nvPr/>
        </p:nvSpPr>
        <p:spPr>
          <a:xfrm>
            <a:off x="6967924" y="7009064"/>
            <a:ext cx="651990" cy="660243"/>
          </a:xfrm>
          <a:custGeom>
            <a:avLst/>
            <a:gdLst/>
            <a:ahLst/>
            <a:cxnLst/>
            <a:rect l="l" t="t" r="r" b="b"/>
            <a:pathLst>
              <a:path w="651990" h="660243">
                <a:moveTo>
                  <a:pt x="0" y="0"/>
                </a:moveTo>
                <a:lnTo>
                  <a:pt x="651990" y="0"/>
                </a:lnTo>
                <a:lnTo>
                  <a:pt x="651990" y="660243"/>
                </a:lnTo>
                <a:lnTo>
                  <a:pt x="0" y="6602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TextBox 10"/>
          <p:cNvSpPr txBox="1"/>
          <p:nvPr/>
        </p:nvSpPr>
        <p:spPr>
          <a:xfrm>
            <a:off x="5334061" y="5196566"/>
            <a:ext cx="7691410" cy="930275"/>
          </a:xfrm>
          <a:prstGeom prst="rect">
            <a:avLst/>
          </a:prstGeom>
        </p:spPr>
        <p:txBody>
          <a:bodyPr lIns="0" tIns="0" rIns="0" bIns="0" rtlCol="0" anchor="t">
            <a:spAutoFit/>
          </a:bodyPr>
          <a:lstStyle/>
          <a:p>
            <a:pPr algn="ctr">
              <a:lnSpc>
                <a:spcPts val="7150"/>
              </a:lnSpc>
            </a:pPr>
            <a:r>
              <a:rPr lang="en-US" sz="6500" b="1">
                <a:solidFill>
                  <a:srgbClr val="FFFFFF"/>
                </a:solidFill>
                <a:latin typeface="Montserrat Bold"/>
                <a:ea typeface="Montserrat Bold"/>
                <a:cs typeface="Montserrat Bold"/>
                <a:sym typeface="Montserrat Bold"/>
              </a:rPr>
              <a:t>Thank You</a:t>
            </a:r>
          </a:p>
        </p:txBody>
      </p:sp>
      <p:sp>
        <p:nvSpPr>
          <p:cNvPr id="11" name="TextBox 11"/>
          <p:cNvSpPr txBox="1"/>
          <p:nvPr/>
        </p:nvSpPr>
        <p:spPr>
          <a:xfrm>
            <a:off x="7930397" y="7120219"/>
            <a:ext cx="2892074" cy="390308"/>
          </a:xfrm>
          <a:prstGeom prst="rect">
            <a:avLst/>
          </a:prstGeom>
        </p:spPr>
        <p:txBody>
          <a:bodyPr lIns="0" tIns="0" rIns="0" bIns="0" rtlCol="0" anchor="t">
            <a:spAutoFit/>
          </a:bodyPr>
          <a:lstStyle/>
          <a:p>
            <a:pPr algn="l">
              <a:lnSpc>
                <a:spcPts val="3161"/>
              </a:lnSpc>
            </a:pPr>
            <a:r>
              <a:rPr lang="en-US" sz="2258" b="1">
                <a:solidFill>
                  <a:srgbClr val="000000"/>
                </a:solidFill>
                <a:latin typeface="Inter Bold"/>
                <a:ea typeface="Inter Bold"/>
                <a:cs typeface="Inter Bold"/>
                <a:sym typeface="Inter Bold"/>
              </a:rPr>
              <a:t>NorthBridge Bank</a:t>
            </a:r>
          </a:p>
        </p:txBody>
      </p:sp>
      <p:sp>
        <p:nvSpPr>
          <p:cNvPr id="12" name="AutoShape 12"/>
          <p:cNvSpPr/>
          <p:nvPr/>
        </p:nvSpPr>
        <p:spPr>
          <a:xfrm flipH="1" flipV="1">
            <a:off x="754574" y="680954"/>
            <a:ext cx="0" cy="11014301"/>
          </a:xfrm>
          <a:prstGeom prst="line">
            <a:avLst/>
          </a:prstGeom>
          <a:ln w="38100" cap="flat">
            <a:solidFill>
              <a:srgbClr val="FFFFFF"/>
            </a:solidFill>
            <a:prstDash val="solid"/>
            <a:headEnd type="none" w="sm" len="sm"/>
            <a:tailEnd type="none" w="sm" len="sm"/>
          </a:ln>
        </p:spPr>
        <p:txBody>
          <a:bodyPr/>
          <a:lstStyle/>
          <a:p>
            <a:endParaRPr lang="en-GB"/>
          </a:p>
        </p:txBody>
      </p:sp>
      <p:sp>
        <p:nvSpPr>
          <p:cNvPr id="13" name="AutoShape 13"/>
          <p:cNvSpPr/>
          <p:nvPr/>
        </p:nvSpPr>
        <p:spPr>
          <a:xfrm flipV="1">
            <a:off x="17604958" y="-822728"/>
            <a:ext cx="0" cy="10373558"/>
          </a:xfrm>
          <a:prstGeom prst="line">
            <a:avLst/>
          </a:prstGeom>
          <a:ln w="38100" cap="flat">
            <a:solidFill>
              <a:srgbClr val="FFFFFF"/>
            </a:solidFill>
            <a:prstDash val="solid"/>
            <a:headEnd type="none" w="sm" len="sm"/>
            <a:tailEnd type="none" w="sm" len="sm"/>
          </a:ln>
        </p:spPr>
        <p:txBody>
          <a:bodyPr/>
          <a:lstStyle/>
          <a:p>
            <a:endParaRPr lang="en-GB"/>
          </a:p>
        </p:txBody>
      </p:sp>
      <p:grpSp>
        <p:nvGrpSpPr>
          <p:cNvPr id="14" name="Group 14"/>
          <p:cNvGrpSpPr/>
          <p:nvPr/>
        </p:nvGrpSpPr>
        <p:grpSpPr>
          <a:xfrm>
            <a:off x="497873" y="424253"/>
            <a:ext cx="513401" cy="51340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CDCDD"/>
            </a:solidFill>
          </p:spPr>
          <p:txBody>
            <a:bodyPr/>
            <a:lstStyle/>
            <a:p>
              <a:endParaRPr lang="en-GB"/>
            </a:p>
          </p:txBody>
        </p:sp>
        <p:sp>
          <p:nvSpPr>
            <p:cNvPr id="16" name="TextBox 16"/>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grpSp>
        <p:nvGrpSpPr>
          <p:cNvPr id="17" name="Group 17"/>
          <p:cNvGrpSpPr/>
          <p:nvPr/>
        </p:nvGrpSpPr>
        <p:grpSpPr>
          <a:xfrm>
            <a:off x="17348258" y="9294129"/>
            <a:ext cx="513401" cy="51340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3C31"/>
            </a:solidFill>
          </p:spPr>
          <p:txBody>
            <a:bodyPr/>
            <a:lstStyle/>
            <a:p>
              <a:endParaRPr lang="en-GB"/>
            </a:p>
          </p:txBody>
        </p:sp>
        <p:sp>
          <p:nvSpPr>
            <p:cNvPr id="19" name="TextBox 19"/>
            <p:cNvSpPr txBox="1"/>
            <p:nvPr/>
          </p:nvSpPr>
          <p:spPr>
            <a:xfrm>
              <a:off x="76200" y="104775"/>
              <a:ext cx="660400" cy="631825"/>
            </a:xfrm>
            <a:prstGeom prst="rect">
              <a:avLst/>
            </a:prstGeom>
          </p:spPr>
          <p:txBody>
            <a:bodyPr lIns="50800" tIns="50800" rIns="50800" bIns="50800" rtlCol="0" anchor="ctr"/>
            <a:lstStyle/>
            <a:p>
              <a:pPr algn="ctr">
                <a:lnSpc>
                  <a:spcPts val="2750"/>
                </a:lnSpc>
              </a:pPr>
              <a:endParaRPr/>
            </a:p>
          </p:txBody>
        </p:sp>
      </p:grpSp>
      <p:sp>
        <p:nvSpPr>
          <p:cNvPr id="20" name="Freeform 20"/>
          <p:cNvSpPr/>
          <p:nvPr/>
        </p:nvSpPr>
        <p:spPr>
          <a:xfrm>
            <a:off x="14593542" y="5270203"/>
            <a:ext cx="1885436" cy="485500"/>
          </a:xfrm>
          <a:custGeom>
            <a:avLst/>
            <a:gdLst/>
            <a:ahLst/>
            <a:cxnLst/>
            <a:rect l="l" t="t" r="r" b="b"/>
            <a:pathLst>
              <a:path w="1885436" h="485500">
                <a:moveTo>
                  <a:pt x="0" y="0"/>
                </a:moveTo>
                <a:lnTo>
                  <a:pt x="1885436" y="0"/>
                </a:lnTo>
                <a:lnTo>
                  <a:pt x="1885436" y="485500"/>
                </a:lnTo>
                <a:lnTo>
                  <a:pt x="0" y="485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1" name="Freeform 21"/>
          <p:cNvSpPr/>
          <p:nvPr/>
        </p:nvSpPr>
        <p:spPr>
          <a:xfrm>
            <a:off x="1957639" y="5635528"/>
            <a:ext cx="1062322" cy="240350"/>
          </a:xfrm>
          <a:custGeom>
            <a:avLst/>
            <a:gdLst/>
            <a:ahLst/>
            <a:cxnLst/>
            <a:rect l="l" t="t" r="r" b="b"/>
            <a:pathLst>
              <a:path w="1062322" h="240350">
                <a:moveTo>
                  <a:pt x="0" y="0"/>
                </a:moveTo>
                <a:lnTo>
                  <a:pt x="1062322" y="0"/>
                </a:lnTo>
                <a:lnTo>
                  <a:pt x="1062322" y="240350"/>
                </a:lnTo>
                <a:lnTo>
                  <a:pt x="0" y="2403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645</Words>
  <Application>Microsoft Office PowerPoint</Application>
  <PresentationFormat>Custom</PresentationFormat>
  <Paragraphs>126</Paragraphs>
  <Slides>8</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7" baseType="lpstr">
      <vt:lpstr>Inter</vt:lpstr>
      <vt:lpstr>Arial</vt:lpstr>
      <vt:lpstr>Open Sans Bold</vt:lpstr>
      <vt:lpstr>Calibri</vt:lpstr>
      <vt:lpstr>Montserrat Bold</vt:lpstr>
      <vt:lpstr>Montserrat</vt:lpstr>
      <vt:lpstr>Inter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NorthBridge Bank Analysis</dc:title>
  <cp:lastModifiedBy>Mubeen Rafiq</cp:lastModifiedBy>
  <cp:revision>2</cp:revision>
  <dcterms:created xsi:type="dcterms:W3CDTF">2006-08-16T00:00:00Z</dcterms:created>
  <dcterms:modified xsi:type="dcterms:W3CDTF">2026-06-25T09:05:29Z</dcterms:modified>
  <dc:identifier>DAHNeW5Q3Rk</dc:identifier>
</cp:coreProperties>
</file>